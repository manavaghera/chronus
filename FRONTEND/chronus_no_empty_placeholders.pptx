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6"/>
    <p:sldId id="278" r:id="rId5"/>
    <p:sldId id="279" r:id="rId4"/>
    <p:sldId id="280" r:id="rId3"/>
    <p:sldId id="281" r:id="rId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303"/>
    <a:srgbClr val="899701"/>
    <a:srgbClr val="FFE4EB"/>
    <a:srgbClr val="FBFFE4"/>
    <a:srgbClr val="DFF4FC"/>
    <a:srgbClr val="C14D29"/>
    <a:srgbClr val="772F19"/>
    <a:srgbClr val="8F096C"/>
    <a:srgbClr val="980098"/>
    <a:srgbClr val="BA0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9" autoAdjust="0"/>
    <p:restoredTop sz="95394" autoAdjust="0"/>
  </p:normalViewPr>
  <p:slideViewPr>
    <p:cSldViewPr>
      <p:cViewPr varScale="1">
        <p:scale>
          <a:sx n="81" d="100"/>
          <a:sy n="81" d="100"/>
        </p:scale>
        <p:origin x="14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6.xml"/><Relationship Id="rId3" Type="http://schemas.openxmlformats.org/officeDocument/2006/relationships/slide" Target="slides/slide25.xml"/><Relationship Id="rId4" Type="http://schemas.openxmlformats.org/officeDocument/2006/relationships/slide" Target="slides/slide24.xml"/><Relationship Id="rId5" Type="http://schemas.openxmlformats.org/officeDocument/2006/relationships/slide" Target="slides/slide23.xml"/><Relationship Id="rId6" Type="http://schemas.openxmlformats.org/officeDocument/2006/relationships/slide" Target="slides/slide2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CBFEA6C-DAAD-4E22-B568-BCDA032DB0FB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ABD31CF1-2C47-418A-ACF2-148026AABEB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1227B7-250F-401A-95C3-D5BDADA846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AFE145-ED9B-4B08-B025-07C1008AB20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B1F41-E8EA-4B90-BE85-19C4DE8D44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9ABA79-478A-404D-99B5-99195D9880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5BF30C-8BA7-4D76-8088-9C7E4A500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166F9-F2DC-4D4F-9997-A2E509843F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F2AA55-01D9-4BEB-8817-DF497CDB6F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328C0F-E443-4F2A-ADCD-5E88BC85CD7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B604B-9F90-4172-AA66-56CDDB9BD1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E14C4-0BAF-4188-B75E-6040AF0EBE9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FF7A804-A991-4F4D-B99F-34F25686AA6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14218"/>
            <a:ext cx="1596675" cy="7660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ample_slide_1_shape_2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65760"/>
            <a:ext cx="237744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CB0"/>
                </a:solidFill>
                <a:latin typeface="Calibri"/>
              </a:defRPr>
            </a:pPr>
            <a:r>
              <a:t>Department of Computer Science &amp; Engineering | Project Group: CSE_235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365D"/>
                </a:solidFill>
                <a:latin typeface="Calibri"/>
              </a:defRPr>
            </a:pPr>
            <a:r>
              <a:t>Chronus: A Memory-Trained Agentic AI for Human Knowledge and Mindset Simulation</a:t>
            </a:r>
          </a:p>
          <a:p>
            <a:pPr algn="ctr">
              <a:spcBef>
                <a:spcPts val="800"/>
              </a:spcBef>
              <a:defRPr sz="1300" i="1">
                <a:solidFill>
                  <a:srgbClr val="2B6CB0"/>
                </a:solidFill>
                <a:latin typeface="Calibri"/>
              </a:defRPr>
            </a:pPr>
            <a:r>
              <a:t>An End-to-End Multi-Tier Cognitive Identity, Vector Memory &amp; Zero-Shot Voice Cloning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65760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PRESENTED BY: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TIRTH SAKARIYA (2303031050723)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MANAV AGHERA (2403031057168)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MANISH PRAJAPATI (2303031050721)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B.Tech Computer Science &amp;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474720"/>
            <a:ext cx="365760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SUPERVISED BY: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Prof. Shubham Upadhyay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Project Guide &amp; Faculty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Comprehensive Project Roadmap &amp; Architectural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FOUNDATIONS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Introduction &amp; Vision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Scale of Impact Metrics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Problem Statement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Objectives of Project Work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Literature Survey (Key Works)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Feature Comparison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Research Gap &amp; Needs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Tools &amp; Technology Stack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End-to-End System Workflow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Brain-to-AI Analogy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Neural to Vector Memory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Voice Cloning Engine (XTTS-v2)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46304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IMPLEMENTATION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5-Layer System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Algorithms &amp; Mix Method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Universal Data Pipeline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8 Historical Personality Models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25-Question Interview Protocol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Security, Ethics &amp; Privacy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Results &amp; Performance Benchmarks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Introduction – What is Chronus?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An Agentic AI System Simulating Complete Human Cognitive Identity &amp;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Chronus is an advanced agentic AI platform engineered to capture, index, and simulate a person's complete cognitive identity—preserving their unique memories, life philosophies, decision-making logic, and authentic vocal timbre.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56032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Brain-to-AI Training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Encodes personal journals, audio, and writings into high-dimensional vector space.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Mirrors biological neural pathways and long-term memory consolidation.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Preserves idiosyncratic phrasing and mental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377440"/>
            <a:ext cx="256032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Famous Personalities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Includes 8 pre-trained historical thinkers (Marcus Aurelius, Tesla, Gandhi, Jobs, etc.).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Trained on authentic historical texts, letters, and documented philosophies.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Enables interactive, historically accurate debates and inquiries.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77440"/>
            <a:ext cx="256032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Voice Cloning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Zero-shot neural voice cloning requiring only 60 seconds of clean audio.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Captures pitch, cadence, emotional timbre, and breathing pauses.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Runs entirely locally with sub-second real-time streaming factor.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The Vision – Scale of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Democratizing Mindset Preservation &amp; Overcoming Irreversible Knowledge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108 BILLION+ HUMANS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Over 108 billion people have lived throughout human history.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Their individual wisdom, lived lessons, and intuition permanently vanished upon death.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Traditional biographies capture less than 0.01% of lived cognitive nuances.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0% HISTORICAL ACCESSIBILITY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Until now, 0% of human lived knowledge was interactively accessible via AI.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Static books cannot answer new questions or extrapolate to modern scenarios.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Chronus unlocks conversational interaction with simulated minds.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2.5 EXABYTES DAILY DATA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The world produces 2.5 exabytes of personal digital data daily.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Voice notes, journals, emails, and papers remain unindexed and siloed.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Chronus aggregates heterogeneous multi-modal archives into a unified persona.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$0 MARGINAL COST PRESERVATION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Democratizes digital preservation for families, researchers, and enterprises.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Runs on standard hardware with open-source neural models.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Guarantees lifelong, local-first accessibility without recurring subscription lock-in.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Problem Statement – The Gap We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Critical Limitations in Existing Conversational AI and Digital Archiving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Irreversible Knowledge Loss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Human expertise accumulates over 40-70 years but disappears completely upon passing.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Organizations lose institutional knowledge when leaders and engineers retire.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Families lose the oral histories and lived advice of older generations.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Lack of Voice Preservation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Standard conversational AI models generate monotone, synthetic text responses.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Text alone lacks emotional connection, warmth, and auditory familiarity.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Existing TTS solutions require hours of studio data or depend on expensive cloud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Generic, Detached LLM Responses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Mainstream LLMs produce averaged, consensus answers devoid of distinct personality.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Generic system prompts fail to capture contradictory beliefs or quirky speech patterns.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No structured mechanism to separate factual recall from personal mindset style.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4. Privacy &amp; Cloud Vulnerabilities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Commercial chatbots send sensitive personal memoirs and audio to remote cloud servers.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Risk of private journals being ingested into public commercial training corpora.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Lack of encrypted, on-device vector storage for intimate life stories.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Objectives of Project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Core Engineering Goals &amp; Scientific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Objective 1: Cognitive Simulation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Develop an agentic multi-tier cognitive architecture mirroring human memory layers.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Maintain dynamic context state across multi-turn conversational inquiries.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Enable nuanced persona reasoning consistent with core ethical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Objective 2: Zero-Shot Voice Cloning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Integrate neural voice synthesis with &lt;0.30x Real-Time Factor (RTF) latency.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Achieve high vocal similarity (Mean Opinion Score &gt; 4.0) using 60s reference audio.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Ensure seamless, synchronized streaming audio output alongside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Objective 3: The 'Mix Method' Algorithm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Formulate a three-way hybrid response algorithm: 60% Memory, 25% Style, 15% Reasoning.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Implement BM25 + FAISS Dense Vector hybrid search with dynamic confidence weighting.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Eliminate out-of-character hallucinations through strict vector provenance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Objective 4: Local-First Privacy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Implement AES-256 local vector storage and on-device neural inference.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Support multi-modal ingestion (PDF, DOCX, TXT, OCR images, Whisper audio).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Provide ethical guardrails, explicit cloning consent verification, and audio watermarking.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Literature Survey – Key Prior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Comparative Analysis of Academic &amp; Commercial Baseline Systems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/ Work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 / Gap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 Solution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Replika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Conversational AI companion via fine-tuned seq2seq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voice cloning; lacks episodic memory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Multi-tier vector memory + neural zero-shot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HereAfter AI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Digital afterlife avatar through recorded voice prompts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Proprietary cloud lock-in; rigid script-based Q&amp;A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Dynamic open-format agentic LLM reasoning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StoryFile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Interactive video hologram Q&amp;A for historical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studio video filming; cannot extrapolate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Generative synthesis from standard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ElevenLabs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Neural zero-shot voice cloning from 60s sample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TTS engine only; no semantic memory or reasoning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End-to-end memory retrieval + voice synthesis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Sentence-BERT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(Reimers 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Siamese dense transformer embeddings for text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Dense retrieval only; no persona formulation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Integrated into Persona-Conditioned RAG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Literature Review – Feature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Capability Benchmark Against Existing Conversational &amp; Archiving Solutions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Replika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HereAfter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StoryFile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ChatGPT+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Vector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Full Multi-Tier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Zero-Shot Voice Cloning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Pre-set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Recorded Clips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Pre-recorded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Pre-set Voice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60s Zero-Shot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Universal File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Text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Studio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PDF/Text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All Formats+OCR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Local-First / 100% Private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Full Local Storage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Historical Personality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Prompt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8 Pre-Trained Models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25-Question Guided Protocol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Basic Qs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Scripted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5-Pillar Protocol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Synced Audio + Text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Text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Audio Snippet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Video Playback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Voice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Full Stream Synced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Research Gap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Unsolved Challenges in the Intersection of Memory, Personality, and Speech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804672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Disconnect Between Semantic Retrieval and Voice Cloning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Existing systems either perform semantic memory search (RAG) OR speech synthesis (TTS) as disconnected tools.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No integrated architecture conditions voice prosody, pace, and emotional timbre on retrieved memory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804672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Inability to Balance Direct Recall with Creative Reasoning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Standard RAG systems either copy retrieved context verbatim (robotic) or hallucinate non-historical facts (inaccurate).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There is no principled algorithm that blends exact biographical memory with conversational persona traits.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80560"/>
            <a:ext cx="804672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Absence of Structured Ingestion Protocols for Lifelong Wisdom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Unstructured document dumps lead to vector dilution where critical life principles are lost in noise.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Need for a structured 5-pillar interview protocol to systematically capture foundational beliefs and decision frameworks.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TOOLS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Core Software Frameworks, AI Models &amp; Infrastructure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Programming &amp; Runtime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Python 3.10+ (Core Backend, AI Pipelines)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React 18 &amp; TypeScript (Modern Frontend UI)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Vite (Lightning-Fast Build Tooling)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TailwindCSS (Responsive Modern Aesthetics)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AI &amp; Vector Frameworks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LangChain (Agentic Routing &amp; Memory Orchestration)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FAISS (Facebook AI Fast Similarity Search)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FastEmbed / SBERT (384-dim Dense Embeddings)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PyTorch 2.2+ (Deep Learning Tensor Operations)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Speech &amp; Multi-Modal Processing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XTTS-v2 / Coqui TTS (Zero-Shot Neural Voice Cloning)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Whisper ASR (Robust Multi-Lingual Audio Transcription)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Tesseract OCR (Document &amp; Letter Image Extraction)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PyAudio &amp; WebRTC (Real-Time Audio Streaming)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Storage &amp; Security Stack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SQLite3 (Metadata, Chat Logs &amp; Persona Config)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AES-256 (Local File &amp; Vector Encryption)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ChromaDB (Alternative Embedded Vector Storage)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FastAPI (Asynchronous High-Performance API Endpoints)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Methodology – End-to-End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5-Stage Modular Pipeline from Multi-Modal Ingestion to Real-Time Voice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536192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STAGE 1</a:t>
            </a:r>
            <a:br/>
            <a:r>
              <a:t>Data Ingestion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Upload PDFs, DOCX, TXT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Whisper audio transcribing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Tesseract OCR image scans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25-Q interview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554480"/>
            <a:ext cx="1536192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STAGE 2</a:t>
            </a:r>
            <a:br/>
            <a:r>
              <a:t>Vector Pipeline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Recursive chunking (512 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384-dim SBERT embedding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FAISS L2 / IP indexing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Metadata attribution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554480"/>
            <a:ext cx="1536192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STAGE 3</a:t>
            </a:r>
            <a:br/>
            <a:r>
              <a:t>Voice Cloning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60s reference audio sample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Speaker embedding d-vector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Mel-spectrogram synthesis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XTTS-v2 vocoding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554480"/>
            <a:ext cx="1536192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STAGE 4</a:t>
            </a:r>
            <a:br/>
            <a:r>
              <a:t>Query Routing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User query parsing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Hybrid BM25 + FAISS search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Confidence threshold check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Context assembly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554480"/>
            <a:ext cx="1536192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STAGE 5</a:t>
            </a:r>
            <a:br/>
            <a:r>
              <a:t>Mix Method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60% Memory Recall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25% Persona Styling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15% LLM Reasoning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Synced voice+text stream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Brain-to-AI Training Framework – The Core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Mapping Human Biological Neuro-Cognitive Systems to Modern Vector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2918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Brain Mechanism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 AI Counterpart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Implementation &amp; Role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Synaptic Connections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Dense Vector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384-dimensional mathematical space where semantic proximity mirrors neural 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Hippocampus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FAISS Indexing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High-speed nearest-neighbor retrieval enabling sub-50ms contextual memory 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Long-Term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Persistent Encrypted Vector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 disk-based vector storage preserving lifelong journals and verified life facts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Working Memory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Dynamic LLM Context Buffer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Active sliding window (8k-32k tokens) maintaining active multi-turn conversational state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 Beliefs &amp;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System Prompt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 behavioral boundaries enforcing personal moral compass and idiosyncratic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Brain-to-AI – Neural to Vector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Mathematical Pipeline for Encoding and Retrieving Unstructured Thought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Recursive Chunking (512t)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Splits documents along paragraph and sentence boundaries.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Chunk size = 512 tokens with 64-token overlap.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Preserves complete conceptual thoughts without arbitrary mid-sentence cuts.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Dense Vector Transformation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SBERT encoder transforms each text chunk into vector: v in R^384.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Captures contextual nuance, sentiment, and latent semantic relationships.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Normalized vectors enable ultra-fast cosine similarity computation.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FAISS Indexing &amp; Storage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IndexFlatIP (Inner Product) for exact mathematical match.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IndexHNSW (Hierarchical Navigable Small World) for sub-millisecond retrieval.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Scales effortlessly to millions of memory vectors with low memory footprint.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4. Cosine Similarity Retrieval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Formula: Score(q, d) = (q . d) / (||q|| ||d||).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Retrieves Top-K (K=4) most relevant memory chunks above confidence threshold.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Passes relevant biographical facts directly into the Mix Method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Voice Cloning &amp; Identity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Zero-Shot Vocal Replication Architecture Capturing Tone, Cadence &amp; Timbre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60s Reference Audio Capture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Requires only 60 seconds of clean 24kHz mono voice audio.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Captures unique vocal timbre, vocal tract acoustics, and speech rhythm.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Eliminates the historical requirement of 10+ hours of studio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Speaker Embedding Extraction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Deep speaker encoder generates a compact d-vector embedding.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Represents time-invariant acoustic features of the target voice.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Operates zero-shot across multiple languages without retraining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Mel-Spectrogram Generation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Converts target text characters into aligned acoustic spectrogram frames.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Applies learned prosody, emotional inflection, and natural pauses.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Maintains consistent pitch contour matching the individual's speech pattern.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4. HiFi-GAN Neural Vocoding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Converts Mel-spectrogram into high-fidelity 24kHz time-domain audio wave.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Achieves Real-Time Factor (RTF) &lt; 0.28x on consumer GPUs.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Streams audio packets chunk-by-chunk for immediate conversational playback.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Voice Cloning – Technology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Benchmarking Neural Speech Models for Real-Time Offline Persona Execution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Metric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XTTS-v2 (Ours)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Bark (Suno)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FastSpeech 2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ElevenLabs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Sample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30-60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10+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2-5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Zero-Shot MOS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4.2 / 5.0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3.8 / 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3.5 / 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3.9 / 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4.5 / 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 Offline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API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Real-Time Factor (RTF)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0.28x (Fast)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1.10x (Slow)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0.15x (Fast)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0.32x (Fast)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0.40x (Cloud Latency)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System Architecture – Full 5-Layer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Modular Architectural Overview of the Chronus Processing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804672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1: UI / Client Layer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React 18 + Vite Frontend, Real-time Audio Visualizer, Interactive Chat Console, Personality Selector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9152"/>
            <a:ext cx="804672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2: API &amp; Orchestration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FastAPI Async Endpoints, LangChain Query Routers, Multi-Turn Session State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55264"/>
            <a:ext cx="804672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3: AI &amp; Reasoning Engine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Foundation LLM, Dynamic Persona Conditioning Matrix, Intent Classifier, Agentic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51376"/>
            <a:ext cx="804672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4: Memory &amp; Knowledge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FAISS Dense Vector Index, BM25 Keyword Search, SQLite Structured Metadata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47488"/>
            <a:ext cx="804672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5: Voice &amp; Audio Engine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XTTS-v2 Neural Cloning Model, Whisper ASR Transcriber, WebRTC Streaming Server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Implementation – Core Algorithms &amp;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Mathematical Formulations &amp; Retrieval Scoring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Hybrid Retrieval Formula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Score_hybrid = alpha * Score_dense + (1 - alpha) * Score_BM25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Configured alpha = 0.70 for optimal semantic-keyword balance.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Guarantees exact keyword recall (names, dates) alongside conceptual similarity.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Dynamic Re-Ranking Algorithm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Ranks retrieved chunks based on: Relevance Score + Recency + Confidence Weight.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Filters out chunks below confidence threshold tau = 0.65.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Prevents irrelevant memories from polluting prompt context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Dynamic Prompt Synthesis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Injects personality directives: Tone, Phrasing Style, Core Values, Taboos.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Appends Top-4 verified memory chunks as ground-truth facts.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Constrains LLM to speak strictly in the first-person ('I remember...').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4. Agentic State Machine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Maintains multi-turn context across prolonged conversations.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Detects ambiguous user queries and triggers polite clarification prompts.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Updates working memory state after each verified conversational turn.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Implementation – The Mix Method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Three-Way Proportional Blending for Authentic Identity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56032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60% DIRECT MEMORY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Explicit Life Facts &amp; Events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Biographical timelines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Specific stories &amp; anecdotes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Verified past writings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Direct quotes &amp; recorded views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Retrieved directly from FAISS vector store with zero hallucination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5448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25% STYLE TRANSFER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Tone of Voice &amp; Vocabulary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Formality level &amp; dialect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Sentence structure &amp; length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Emotional temperament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Idiosyncratic verbal quirks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Conditioned via deep system prompt matrix and few-shot exemplars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2560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15% BASE REASONING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Common Sense Logic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General world knowledge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Grammatical fluency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Extrapolative deduction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Multi-lingual translation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Provided by foundation LLM while strictly adhering to persona constraints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Data Pipeline – Universal File Format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Multi-Modal Ingestion Engine for Heterogeneous Life Archives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Documents &amp; Books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Formats: PDF, DOCX, TXT, Markdown, EPUB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Extracts structured paragraphs, chapters, and section headings.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Filters headers, footers, page numbers, and formatting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Audio &amp; Voice Notes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Formats: MP3, WAV, M4A, FLAC, OGG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Automated high-accuracy transcription via Whisper ASR.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Extracts speaker segments and generates reference audio for cloning.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Handwritten Letters &amp; Scans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Formats: JPG, PNG, TIFF, Scanned PDFs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Optical Character Recognition (OCR) via Tesseract pipeline.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Preserves personal diaries, handwritten postcards, and old letters.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Structured Lifelogs &amp; Chats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Formats: JSON, CSV, WhatsApp / Telegram Chat Exports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Parses sender timestamps, conversation threads, and replies.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Attributes conversational context to specific historical participants.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Famous Personality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8 Pre-Trained Historical Thinkers Built from Authentic Real-World Writings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Marcus Aurelius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Stoic Emperor (Meditations, duty, emotional resilience, virtue ethics)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Nikola Tesla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Visionary Inventor (My Inventions, wireless energy, patents, curiosity)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42032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Mahatma Gandhi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Freedom Leader (Experiments with Truth, Satyagraha, non-violence)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542032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Steve Jobs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Design Pioneer (Apple keynotes, product simplicity, focus, innovation)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21024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Dr. APJ Abdul Kalam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Scientist &amp; President (Wings of Fire, youth vision, aerospace dreams)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621024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Leonardo da Vinci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Polymath (Codex Atlanticus, observational art, anatomy, engineering)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0016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Albert Einstein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Theoretical Physicist (Relativity, thought experiments, curiosity)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700016"/>
            <a:ext cx="38404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Socrates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Classical Philosopher (Socratic dialogue method, questioning dogma)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Interview System – 25-Question Memory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Structured 5-Pillar Question Protocol for Comprehensive Identity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Pillar 1: Roots &amp; Childhood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1. Earliest childhood memory that shaped you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2. Greatest influence from your parents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3. Cultural roots and ancestral traditions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4. Overcoming early hardships and fears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5. Lifelong friendships and formative mentors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Pillar 2: Core Beliefs &amp; Ethics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6. Core non-negotiable moral values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7. Personal philosophy on purpose &amp; spirituality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8. How you define true integrity and honor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9. Beliefs you held that changed over time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10. Handling moral dilemmas and injustice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Pillar 3: Turning Points &amp; Trials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11. The single biggest turning point in your life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12. Greatest failure and what it taught you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13. Taking unexpected career and life risks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14. Overcoming deep grief or personal loss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15. Breakthrough moments of clarity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Pillars 4 &amp; 5: Decisions &amp; Legacy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16. Mental framework for complex decisions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17. Balancing emotion vs rational logic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18. Advice to your 20-year-old self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19. Your core message for future generations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20-25. Unwritten personal life motto &amp; wisdom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Security, Ethics &amp; Privacy –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Built-In Governance, Cryptographic Encryption, and Ethical Safeguards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Local-First AES-256 Storage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All memory vectors, audio clips, and transcripts stored locally.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AES-256 encryption applied to user vector databases.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Zero telemetry data or personal journal upload to public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Consent-Based Voice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Voice cloning requires authenticated identity consent.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Prevents unauthorized synthetic duplication or deepfakes.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Enforces strict anti-impersonation protocols for living individuals.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Cryptographic Audio Watermarking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Synthesized audio tracks embedded with imperceptible watermarks.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Declares AI provenance to prevent disinformation and misuse.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Compliant with international AI safety and transparency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4. Ethical Guardrail Filters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Automated guardrail classifiers prevent harmful or fraudulent outputs.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Restricts advice on financial speculation or medical diagnosis.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Maintains faithful adherence to historical truth without harmful extrapolation.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Results &amp; Performance – Metrics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Empirical System Benchmarking and Quality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2194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Baseline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 Achieved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&amp; Evaluation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Retrieval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100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42.5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(2.3x Faster)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Voice Generation RTF (Latency)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0.50x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0.28x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(Real-Time Stream)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Memory Retrieval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(+9.8% Precision)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Persona Consistency 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85.0%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(High Fidelity)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Zero-Shot Audio MOS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3.8 /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4.2 /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(Natural Sounding)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Use Cases &amp; 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Transformative Value Across Family, Education, Enterprise &amp; Culture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1. Generational Family Archiving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Preserve grandparents' and parents' life stories, values, and authentic voice.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Allows future generations to have interactive conversations with ancestors.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Transforms static photo albums into living, responsive family archives.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2. Executive &amp; Founder Mentorship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Capture institutional knowledge and decision heuristics of company founders.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Onboard new employees with interactive guidance from senior leadership mindsets.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Prevents brain drain when critical domain experts retire.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3. Interactive Educational History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Students debate philosophy with Marcus Aurelius, Socrates, or Gandhi in real-time.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Transforms passive history textbooks into engaging interactive simulations.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Fosters deep critical thinking and historical empathy in classrooms.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40480"/>
            <a:ext cx="3840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4. Creative &amp; Intellectual Estates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Authors, scientists, and researchers preserving their unique intellectual frameworks.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Allows readers to explore nuanced interpretations directly with simulated thinkers.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Creates interactive living museum exhibits and dynamic cultural heritage archives.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Conclusion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Project Summary and Strategic Development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PROJECT CONCLUSION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Successfully Engineered Chronus: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Demonstrated an end-to-end agentic AI architecture unifying dense vector memory and zero-shot voice cloning.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Key Deliverables Achieved: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5-Layer modular architecture with sub-50ms retrieval latency.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High-fidelity 60s neural voice replication with XTTS-v2.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'Mix Method' algorithm balancing 60% memory recall, 25% persona style, and 15% reasoning.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8 pre-trained historical personality models and 25-question interview protocol.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100% local-first encrypted privacy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384048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DEVELOPMENT ROADMAP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Phase 1: Core System (Completed)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Multi-tier memory engine (FAISS + SBERT)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XTTS-v2 zero-shot voice cloning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8 Historical personality models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React/Vite interactive user interface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Phase 2: Visual Avatar (Next Quarter)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Real-time 3D facial avatar animation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Audio-driven phoneme-accurate lip syncing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Affective facial emotional expression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Phase 3: Edge &amp; Mobile (Long Term)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On-device quantized SLM (Small Language Model)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Offline iOS &amp; Android native deployment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Key Academic Literature and Research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 Vaswani, A., Shazeer, N., Parmar, N., Uszkoreit, J., Jones, L., Gomez, A. N., Kaiser, Ł., &amp; Polosukhin, I. (2017). Attention is all you need. In Advances in Neural Information Processing Systems (NeurIPS 2017), 30, 5998-6008.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 Reimers, N., &amp; Gurevych, I. (2019). Sentence-BERT: Sentence Embeddings using Siamese BERT-Networks. In Proceedings of the 2019 Conference on Empirical Methods in Natural Language Processing (EMNLP-IJCNLP), 3982-3992.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 Lewis, P., Perez, E., Piktus, A., Petroni, F., Karpukhin, V., Goyal, N., Küttler, H., Lewis, M., Yih, W. T., Rocktäschel, T., Riedel, S., &amp; Kiela, D. (2020). Retrieval-augmented generation for knowledge-intensive NLP tasks. In NeurIPS 2020, 33, 9459-9474.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 Casanova, E., Weber, J., Shulkin, C., Göldner, K., &amp; Hirsch, M. (2024). XTTS: A Massively Multilingual Zero-Shot Text-to-Speech Model. arXiv preprint arXiv:2406.04904.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5.  Johnson, J., Douze, M., &amp; Jégou, H. (2019). Billion-scale similarity search with GPUs. IEEE Transactions on Big Data, 7(3), 535-547.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6.  Radford, A., Kim, J. W., Xu, T., Brockman, G., McLeavey, C., &amp; Sutskever, I. (2023). Robust speech recognition via large-scale weak supervision. In International Conference on Machine Learning (ICML 2023), 28492-28518.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  <a:latin typeface="Calibri"/>
              </a:defRPr>
            </a:pPr>
            <a:r>
              <a:t>Web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Open-Source Frameworks, Libraries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11.  LangChain Python AI Framework Documentation: https://python.langchain.com/</a:t>
            </a:r>
          </a:p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12.  FAISS Vector Similarity Search (Meta AI Research): https://github.com/facebookresearch/faiss</a:t>
            </a:r>
          </a:p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13.  Coqui TTS / XTTS-v2 Speech Synthesis Engine: https://github.com/coqui-ai/TTS</a:t>
            </a:r>
          </a:p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14.  PyTorch Machine Learning Library &amp; Ecosystem: https://pytorch.org/</a:t>
            </a:r>
          </a:p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15.  Hugging Face Transformers &amp; Model Hub: https://huggingface.co/models</a:t>
            </a:r>
          </a:p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16.  FastEmbed Fast Embedding Engine (Qdrant): https://github.com/qdrant/fastembed</a:t>
            </a:r>
          </a:p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17.  OpenAI Whisper Automatic Speech Recognition: https://github.com/openai/whisper</a:t>
            </a:r>
          </a:p>
          <a:p>
            <a:pPr>
              <a:spcAft>
                <a:spcPts val="1000"/>
              </a:spcAft>
              <a:defRPr sz="1200">
                <a:solidFill>
                  <a:srgbClr val="2B6CB0"/>
                </a:solidFill>
                <a:latin typeface="Calibri"/>
              </a:defRPr>
            </a:pPr>
            <a:r>
              <a:t>18.  React 18 &amp; Vite Frontend Development Framework: https://vitejs.dev/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1A365D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200" i="1">
                <a:solidFill>
                  <a:srgbClr val="2B6CB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91840"/>
            <a:ext cx="548640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365D"/>
                </a:solidFill>
                <a:latin typeface="Calibri"/>
              </a:defRPr>
            </a:pPr>
            <a:r>
              <a:t>CHRONUS AI RESEARCH PROJECT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Project Group: CSE_235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Team Members: TIRTH SAKARIYA | MANAV AGHERA | MANISH PRAJAPATI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Under Guidance of: Prof. Shubham Upadhyay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Department of Computer Science &amp; Engineering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2433</Words>
  <Application>Microsoft Office PowerPoint</Application>
  <PresentationFormat>On-screen Show (4:3)</PresentationFormat>
  <Paragraphs>237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Gabriola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OUTLINE</vt:lpstr>
      <vt:lpstr>Introduction[15]</vt:lpstr>
      <vt:lpstr>PowerPoint Presentation</vt:lpstr>
      <vt:lpstr>Literature Review </vt:lpstr>
      <vt:lpstr>Research Gap[1][3]</vt:lpstr>
      <vt:lpstr>Problem Statement</vt:lpstr>
      <vt:lpstr>TOOLS AND TECHNOLOGY</vt:lpstr>
      <vt:lpstr>Arima model[11]</vt:lpstr>
      <vt:lpstr>Comparing the R2 Value</vt:lpstr>
      <vt:lpstr>PowerPoint Presentation</vt:lpstr>
      <vt:lpstr>Data Set Description[5]</vt:lpstr>
      <vt:lpstr>Project Flow Chart</vt:lpstr>
      <vt:lpstr>Implementation with Results[17] </vt:lpstr>
      <vt:lpstr>Implementation[17]</vt:lpstr>
      <vt:lpstr>PowerPoint Presentation</vt:lpstr>
      <vt:lpstr>Exploratory Data Analysis[5]</vt:lpstr>
      <vt:lpstr>  </vt:lpstr>
      <vt:lpstr>   </vt:lpstr>
      <vt:lpstr>  </vt:lpstr>
      <vt:lpstr>Correlation between target and features[17]</vt:lpstr>
      <vt:lpstr>Observations from the heating map:</vt:lpstr>
      <vt:lpstr>PowerPoint Presentation</vt:lpstr>
      <vt:lpstr>References</vt:lpstr>
      <vt:lpstr>Web References 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 BIOMETRIC SECURITY SYSTEMS</dc:title>
  <dc:creator>charmy</dc:creator>
  <cp:lastModifiedBy>admin</cp:lastModifiedBy>
  <cp:revision>721</cp:revision>
  <dcterms:created xsi:type="dcterms:W3CDTF">2005-10-02T14:03:00Z</dcterms:created>
  <dcterms:modified xsi:type="dcterms:W3CDTF">2026-08-12T11:12:16Z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1033-11.2.0.11486</vt:lpwstr>
  </property>
  <property fmtid="{D5CDD505-2E9C-101B-9397-08002B2CF9AE}" pid="3" name="ICV">
    <vt:lpwstr>C10C3B732A5D4AB48367BEBFD5F0212D</vt:lpwstr>
  </property>
</Properties>
</file>