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33"/>
    <p:sldId id="257"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A303"/>
    <a:srgbClr val="899701"/>
    <a:srgbClr val="FFE4EB"/>
    <a:srgbClr val="FBFFE4"/>
    <a:srgbClr val="DFF4FC"/>
    <a:srgbClr val="C14D29"/>
    <a:srgbClr val="772F19"/>
    <a:srgbClr val="8F096C"/>
    <a:srgbClr val="980098"/>
    <a:srgbClr val="BA00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99" autoAdjust="0"/>
    <p:restoredTop sz="95394" autoAdjust="0"/>
  </p:normalViewPr>
  <p:slideViewPr>
    <p:cSldViewPr>
      <p:cViewPr varScale="1">
        <p:scale>
          <a:sx n="81" d="100"/>
          <a:sy n="81" d="100"/>
        </p:scale>
        <p:origin x="1402"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1.xml"/><Relationship Id="rId34"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B20E42A-D9FC-47EE-8900-478CBDC629FC}" type="doc">
      <dgm:prSet loTypeId="urn:microsoft.com/office/officeart/2005/8/layout/list1#1" loCatId="list" qsTypeId="urn:microsoft.com/office/officeart/2005/8/quickstyle/simple1#1" qsCatId="simple" csTypeId="urn:microsoft.com/office/officeart/2005/8/colors/accent1_2#1" csCatId="accent1" phldr="1"/>
      <dgm:spPr/>
      <dgm:t>
        <a:bodyPr/>
        <a:lstStyle/>
        <a:p>
          <a:endParaRPr lang="en-US"/>
        </a:p>
      </dgm:t>
    </dgm:pt>
    <dgm:pt modelId="{BB9CA28A-5FA8-4595-B0CA-BE8246B0F16C}" type="pres">
      <dgm:prSet presAssocID="{3B20E42A-D9FC-47EE-8900-478CBDC629FC}" presName="linear" presStyleCnt="0">
        <dgm:presLayoutVars>
          <dgm:dir/>
          <dgm:animLvl val="lvl"/>
          <dgm:resizeHandles val="exact"/>
        </dgm:presLayoutVars>
      </dgm:prSet>
      <dgm:spPr/>
    </dgm:pt>
  </dgm:ptLst>
  <dgm:cxnLst>
    <dgm:cxn modelId="{8CAF70A6-4EAC-4A5E-9CDF-9950B16B4FA7}" type="presOf" srcId="{3B20E42A-D9FC-47EE-8900-478CBDC629FC}" destId="{BB9CA28A-5FA8-4595-B0CA-BE8246B0F16C}" srcOrd="0" destOrd="0" presId="urn:microsoft.com/office/officeart/2005/8/layout/list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CBFEA6C-DAAD-4E22-B568-BCDA032DB0FB}" type="datetimeFigureOut">
              <a:rPr lang="en-US"/>
              <a:t>8/12/2026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ABD31CF1-2C47-418A-ACF2-148026AABEBE}"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BD31CF1-2C47-418A-ACF2-148026AABEBE}" type="slidenum">
              <a:rPr lang="en-US" smtClean="0"/>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31227B7-250F-401A-95C3-D5BDADA846F2}"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6D8818E-4975-47DF-8CD0-6344EFD914C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DAFE145-ED9B-4B08-B025-07C1008AB203}"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61B1F41-E8EA-4B90-BE85-19C4DE8D44E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779ABA79-478A-404D-99B5-99195D9880E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505BF30C-8BA7-4D76-8088-9C7E4A5002F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AEA166F9-F2DC-4D4F-9997-A2E509843F4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7F2AA55-01D9-4BEB-8817-DF497CDB6F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9328C0F-E443-4F2A-ADCD-5E88BC85CD7B}"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B2B604B-9F90-4172-AA66-56CDDB9BD1C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E1E14C4-0BAF-4188-B75E-6040AF0EBE94}"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a:defRPr/>
            </a:pPr>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fld id="{1FF7A804-A991-4F4D-B99F-34F25686AA62}"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23528" y="314218"/>
            <a:ext cx="1596675" cy="76607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43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600" kern="1200">
          <a:solidFill>
            <a:schemeClr val="tx1"/>
          </a:solidFill>
          <a:latin typeface="+mn-lt"/>
          <a:ea typeface="+mn-ea"/>
          <a:cs typeface="+mn-cs"/>
        </a:defRPr>
      </a:lvl2pPr>
      <a:lvl3pPr marL="4483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1https/www.tensorflow.org/" TargetMode="External"/><Relationship Id="rId3" Type="http://schemas.openxmlformats.org/officeDocument/2006/relationships/hyperlink" Target="https://matplotlib.org/" TargetMode="External"/><Relationship Id="rId4" Type="http://schemas.openxmlformats.org/officeDocument/2006/relationships/hyperlink" Target="https://pandas.pydata.org/" TargetMode="External"/><Relationship Id="rId5" Type="http://schemas.openxmlformats.org/officeDocument/2006/relationships/hyperlink" Target="https://www.youtube.com/watch?v=PD5QguzEdNs" TargetMode="External"/><Relationship Id="rId6" Type="http://schemas.openxmlformats.org/officeDocument/2006/relationships/hyperlink" Target="https://www.lucidchart.com/" TargetMode="External"/><Relationship Id="rId7" Type="http://schemas.openxmlformats.org/officeDocument/2006/relationships/hyperlink" Target="https://apps.diagrams.net/" TargetMode="External"/><Relationship Id="rId8" Type="http://schemas.openxmlformats.org/officeDocument/2006/relationships/hyperlink" Target="https://jupyter.or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Tree>
  </p:cSld>
  <p:clrMapOvr>
    <a:masterClrMapping/>
  </p:clrMapOvr>
</p:sld>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OUTLINE</a:t>
            </a:r>
          </a:p>
        </p:txBody>
      </p:sp>
      <p:sp>
        <p:nvSpPr>
          <p:cNvPr id="3" name="Content Placeholder 2"/>
          <p:cNvSpPr>
            <a:spLocks noGrp="1"/>
          </p:cNvSpPr>
          <p:nvPr>
            <p:ph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OUTLINE</a:t>
            </a:r>
          </a:p>
        </p:txBody>
      </p:sp>
      <p:sp>
        <p:nvSpPr>
          <p:cNvPr id="3" name="Content Placeholder 2"/>
          <p:cNvSpPr>
            <a:spLocks noGrp="1"/>
          </p:cNvSpPr>
          <p:nvPr>
            <p:ph idx="1"/>
          </p:nvPr>
        </p:nvSpPr>
        <p:spPr/>
        <p:txBody>
          <a:bodyPr/>
          <a:lstStyl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9496" y="692531"/>
            <a:ext cx="7290054" cy="1499616"/>
          </a:xfrm>
        </p:spPr>
        <p:txBody>
          <a:bodyPr/>
          <a:lstStyle/>
          <a:p>
            <a:r>
              <a:rPr lang="en-IN" sz="3600" dirty="0">
                <a:latin typeface="Calibri" panose="020F0502020204030204" pitchFamily="34" charset="0"/>
                <a:cs typeface="Calibri" panose="020F0502020204030204" pitchFamily="34" charset="0"/>
                <a:sym typeface="+mn-ea"/>
              </a:rPr>
              <a:t>Introduction</a:t>
            </a:r>
            <a:r>
              <a:rPr lang="en-CA" altLang="en-IN" sz="3600" baseline="30000" dirty="0">
                <a:latin typeface="Calibri" panose="020F0502020204030204" pitchFamily="34" charset="0"/>
                <a:cs typeface="Calibri" panose="020F0502020204030204" pitchFamily="34" charset="0"/>
                <a:sym typeface="+mn-ea"/>
              </a:rPr>
              <a:t>[15]</a:t>
            </a:r>
          </a:p>
        </p:txBody>
      </p:sp>
      <p:sp>
        <p:nvSpPr>
          <p:cNvPr id="17" name="Content Placeholder 2"/>
          <p:cNvSpPr>
            <a:spLocks noGrp="1" noChangeArrowheads="1"/>
          </p:cNvSpPr>
          <p:nvPr>
            <p:ph sz="half" idx="1"/>
          </p:nvPr>
        </p:nvSpPr>
        <p:spPr/>
        <p:txBody>
          <a:bodyPr/>
          <a:lstStyle/>
          <a:p>
            <a:endParaRPr lang="en-IN" altLang="en-US" sz="3000" dirty="0">
              <a:latin typeface="Times New Roman" panose="02020603050405020304" pitchFamily="18" charset="0"/>
              <a:cs typeface="Times New Roman" panose="02020603050405020304" pitchFamily="18" charset="0"/>
            </a:endParaRPr>
          </a:p>
          <a:p>
            <a:endParaRPr lang="en-IN" altLang="en-US" sz="3000" dirty="0">
              <a:latin typeface="Times New Roman" panose="02020603050405020304" pitchFamily="18" charset="0"/>
              <a:cs typeface="Times New Roman" panose="02020603050405020304" pitchFamily="18" charset="0"/>
            </a:endParaRPr>
          </a:p>
          <a:p>
            <a:endParaRPr lang="en-IN" altLang="en-US" sz="3000" dirty="0"/>
          </a:p>
        </p:txBody>
      </p:sp>
      <p:sp>
        <p:nvSpPr>
          <p:cNvPr id="8" name="Slide Number Placeholder 7"/>
          <p:cNvSpPr>
            <a:spLocks noGrp="1"/>
          </p:cNvSpPr>
          <p:nvPr>
            <p:ph type="sldNum" sz="quarter" idx="12"/>
          </p:nvPr>
        </p:nvSpPr>
        <p:spPr/>
        <p:txBody>
          <a:bodyPr/>
          <a:lstStyle/>
          <a:p>
            <a:pPr>
              <a:buNone/>
              <a:defRPr/>
            </a:pPr>
            <a:fld id="{76D8818E-4975-47DF-8CD0-6344EFD914C9}" type="slidenum">
              <a:rPr lang="en-US" smtClean="0"/>
              <a:t>3</a:t>
            </a:fld>
            <a:endParaRPr lang="en-US" dirty="0"/>
          </a:p>
        </p:txBody>
      </p:sp>
      <p:sp>
        <p:nvSpPr>
          <p:cNvPr id="18" name="Title 1"/>
          <p:cNvSpPr txBox="1"/>
          <p:nvPr/>
        </p:nvSpPr>
        <p:spPr>
          <a:xfrm>
            <a:off x="1188084" y="548928"/>
            <a:ext cx="6347713" cy="949672"/>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endParaRPr lang="en-IN" sz="3200" dirty="0">
              <a:latin typeface="Calibri" panose="020F0502020204030204" pitchFamily="34" charset="0"/>
              <a:cs typeface="Calibri" panose="020F0502020204030204" pitchFamily="34" charset="0"/>
            </a:endParaRPr>
          </a:p>
        </p:txBody>
      </p:sp>
      <p:sp>
        <p:nvSpPr>
          <p:cNvPr id="3" name="Text Box 2"/>
          <p:cNvSpPr txBox="1"/>
          <p:nvPr/>
        </p:nvSpPr>
        <p:spPr>
          <a:xfrm>
            <a:off x="537242" y="1921654"/>
            <a:ext cx="8321008" cy="4401205"/>
          </a:xfrm>
          <a:prstGeom prst="rect">
            <a:avLst/>
          </a:prstGeom>
          <a:noFill/>
        </p:spPr>
        <p:txBody>
          <a:bodyPr wrap="square" lIns="91440" tIns="45720" rIns="91440" bIns="45720" rtlCol="0" anchor="t">
            <a:spAutoFit/>
          </a:bodyPr>
          <a:lstStyle/>
          <a:p>
            <a:pPr marL="342900" indent="-342900" algn="just">
              <a:buFont typeface="Arial" panose="020B0604020202020204"/>
              <a:buChar char="•"/>
            </a:pPr>
            <a:r>
              <a:rPr lang="en-US" sz="2000" dirty="0">
                <a:latin typeface="Calibri" panose="020F0502020204030204"/>
                <a:cs typeface="Calibri" panose="020F0502020204030204" pitchFamily="34" charset="0"/>
              </a:rPr>
              <a:t>Global malls and stores chains and the increase in the number of electronic payment customers, the competition among the rival organizations is becoming serious day by day.</a:t>
            </a:r>
          </a:p>
          <a:p>
            <a:pPr marL="342900" indent="-342900" algn="just"/>
            <a:endParaRPr lang="en-US" sz="2000" dirty="0">
              <a:latin typeface="Calibri" panose="020F0502020204030204"/>
              <a:cs typeface="Calibri" panose="020F0502020204030204" pitchFamily="34" charset="0"/>
            </a:endParaRPr>
          </a:p>
          <a:p>
            <a:pPr marL="342900" indent="-342900" algn="just">
              <a:buFont typeface="Arial" panose="020B0604020202020204"/>
              <a:buChar char="•"/>
            </a:pPr>
            <a:r>
              <a:rPr lang="en-US" sz="2000" dirty="0">
                <a:latin typeface="Calibri" panose="020F0502020204030204"/>
                <a:cs typeface="Calibri" panose="020F0502020204030204" pitchFamily="34" charset="0"/>
              </a:rPr>
              <a:t>Each organization is trying to attract more customers using personalized and short-time offers which makes the prediction of future volume of sales of every item an important asset in the planning and inventory management of every organization, transport service, etc.</a:t>
            </a:r>
          </a:p>
          <a:p>
            <a:pPr marL="342900" indent="-342900" algn="just"/>
            <a:endParaRPr lang="en-US" sz="2000" dirty="0">
              <a:latin typeface="Calibri" panose="020F0502020204030204"/>
              <a:cs typeface="Calibri" panose="020F0502020204030204" pitchFamily="34" charset="0"/>
            </a:endParaRPr>
          </a:p>
          <a:p>
            <a:pPr marL="342900" indent="-342900" algn="just">
              <a:buFont typeface="Arial" panose="020B0604020202020204"/>
              <a:buChar char="•"/>
            </a:pPr>
            <a:r>
              <a:rPr lang="en-US" sz="2000" dirty="0">
                <a:latin typeface="Calibri" panose="020F0502020204030204"/>
                <a:cs typeface="Calibri" panose="020F0502020204030204" pitchFamily="34" charset="0"/>
              </a:rPr>
              <a:t>Due to the cheap availability of computing and storage, it has become possible to use sophisticated machine learning algorithms for this purpose. In this paper, we are providing forecast for the sales data of big mart in a number of big mart stores across various location types which based on the historical data of sales volume.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22"/>
          <p:cNvSpPr>
            <a:spLocks noGrp="1"/>
          </p:cNvSpPr>
          <p:nvPr>
            <p:ph type="sldNum" sz="quarter" idx="12"/>
          </p:nvPr>
        </p:nvSpPr>
        <p:spPr/>
        <p:txBody>
          <a:bodyPr/>
          <a:lstStyle/>
          <a:p>
            <a:pPr>
              <a:buNone/>
              <a:defRPr/>
            </a:pPr>
            <a:fld id="{76D8818E-4975-47DF-8CD0-6344EFD914C9}" type="slidenum">
              <a:rPr lang="en-US" smtClean="0"/>
              <a:t>4</a:t>
            </a:fld>
            <a:endParaRPr lang="en-US" dirty="0"/>
          </a:p>
        </p:txBody>
      </p:sp>
      <p:sp>
        <p:nvSpPr>
          <p:cNvPr id="12" name="Title 1"/>
          <p:cNvSpPr txBox="1"/>
          <p:nvPr/>
        </p:nvSpPr>
        <p:spPr>
          <a:xfrm>
            <a:off x="609600" y="980440"/>
            <a:ext cx="6951980" cy="949960"/>
          </a:xfrm>
          <a:prstGeom prst="rect">
            <a:avLst/>
          </a:prstGeom>
        </p:spPr>
        <p:txBody>
          <a:bodyPr vert="horz" lIns="91440" tIns="45720" rIns="91440" bIns="45720" rtlCol="0" anchor="ctr">
            <a:noAutofit/>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r>
              <a:rPr lang="en-IN" sz="3600" dirty="0">
                <a:latin typeface="Calibri" panose="020F0502020204030204"/>
                <a:cs typeface="Calibri" panose="020F0502020204030204"/>
              </a:rPr>
              <a:t>Objectives of PROJECT Work</a:t>
            </a:r>
            <a:endParaRPr lang="en-US" altLang="en-IN" sz="3600" baseline="30000" dirty="0">
              <a:latin typeface="Calibri" panose="020F0502020204030204"/>
              <a:cs typeface="Calibri" panose="020F0502020204030204"/>
            </a:endParaRPr>
          </a:p>
        </p:txBody>
      </p:sp>
      <p:sp>
        <p:nvSpPr>
          <p:cNvPr id="3" name="Text Box 2"/>
          <p:cNvSpPr txBox="1"/>
          <p:nvPr/>
        </p:nvSpPr>
        <p:spPr>
          <a:xfrm>
            <a:off x="612271" y="2348880"/>
            <a:ext cx="7724140" cy="3170099"/>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Calibri" panose="020F0502020204030204" pitchFamily="34" charset="0"/>
                <a:ea typeface="+mn-lt"/>
                <a:cs typeface="Calibri" panose="020F0502020204030204" pitchFamily="34" charset="0"/>
                <a:sym typeface="+mn-ea"/>
              </a:rPr>
              <a:t>The goal is to create a prediction model and determine each product's sales at a certain store. </a:t>
            </a:r>
            <a:r>
              <a:rPr lang="en-US" sz="2000" dirty="0">
                <a:latin typeface="Calibri" panose="020F0502020204030204" pitchFamily="34" charset="0"/>
                <a:ea typeface="+mn-lt"/>
                <a:cs typeface="Calibri" panose="020F0502020204030204" pitchFamily="34" charset="0"/>
                <a:sym typeface="+mn-ea"/>
              </a:rPr>
              <a:t> </a:t>
            </a:r>
            <a:endParaRPr lang="en-US" sz="2000" dirty="0">
              <a:latin typeface="Calibri" panose="020F0502020204030204" pitchFamily="34" charset="0"/>
              <a:cs typeface="Calibri" panose="020F0502020204030204" pitchFamily="34" charset="0"/>
            </a:endParaRPr>
          </a:p>
          <a:p>
            <a:pPr algn="just"/>
            <a:endParaRPr lang="en-US" sz="2000" dirty="0">
              <a:latin typeface="Calibri" panose="020F0502020204030204" pitchFamily="34" charset="0"/>
              <a:ea typeface="+mn-lt"/>
              <a:cs typeface="Calibri" panose="020F0502020204030204" pitchFamily="34" charset="0"/>
            </a:endParaRPr>
          </a:p>
          <a:p>
            <a:pPr marL="342900" indent="-342900" algn="just">
              <a:buFont typeface="Arial" panose="020B0604020202020204" pitchFamily="34" charset="0"/>
              <a:buChar char="•"/>
            </a:pPr>
            <a:r>
              <a:rPr lang="en-IN" sz="2000" dirty="0">
                <a:latin typeface="Calibri" panose="020F0502020204030204" pitchFamily="34" charset="0"/>
                <a:ea typeface="+mn-lt"/>
                <a:cs typeface="Calibri" panose="020F0502020204030204" pitchFamily="34" charset="0"/>
                <a:sym typeface="+mn-ea"/>
              </a:rPr>
              <a:t>The objective is to build a prediction model and determine each product's sales in a certain retailer. This model will be used by Big Mart to comprehend the characteristics of the products and the establishments that are essential to boosting sales.</a:t>
            </a:r>
          </a:p>
          <a:p>
            <a:pPr marL="342900" indent="-342900" algn="just">
              <a:buFont typeface="Arial" panose="020B0604020202020204" pitchFamily="34" charset="0"/>
              <a:buChar char="•"/>
            </a:pPr>
            <a:endParaRPr lang="en-IN" sz="2000" dirty="0">
              <a:latin typeface="Calibri" panose="020F0502020204030204" pitchFamily="34" charset="0"/>
              <a:ea typeface="+mn-lt"/>
              <a:cs typeface="Calibri" panose="020F0502020204030204" pitchFamily="34" charset="0"/>
              <a:sym typeface="+mn-ea"/>
            </a:endParaRPr>
          </a:p>
          <a:p>
            <a:pPr marL="342900" indent="-342900" algn="just">
              <a:buFont typeface="Arial" panose="020B0604020202020204" pitchFamily="34" charset="0"/>
              <a:buChar char="•"/>
            </a:pPr>
            <a:r>
              <a:rPr lang="en-IN" sz="2000" dirty="0">
                <a:latin typeface="Calibri" panose="020F0502020204030204" pitchFamily="34" charset="0"/>
                <a:ea typeface="+mn-lt"/>
                <a:cs typeface="Calibri" panose="020F0502020204030204" pitchFamily="34" charset="0"/>
                <a:sym typeface="+mn-ea"/>
              </a:rPr>
              <a:t>Apart from this, the model will also anticipate the time period during which the prediction will occur.</a:t>
            </a:r>
            <a:endParaRPr lang="en-US" sz="2000" dirty="0">
              <a:latin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750" y="45085"/>
            <a:ext cx="4896346" cy="431587"/>
          </a:xfrm>
        </p:spPr>
        <p:txBody>
          <a:bodyPr>
            <a:noAutofit/>
          </a:bodyPr>
          <a:lstStyle/>
          <a:p>
            <a:r>
              <a:rPr lang="en-US" sz="3200" dirty="0">
                <a:latin typeface="Calibri" panose="020F0502020204030204" pitchFamily="34" charset="0"/>
                <a:cs typeface="Calibri" panose="020F0502020204030204" pitchFamily="34" charset="0"/>
              </a:rPr>
              <a:t>Literature </a:t>
            </a:r>
            <a:r>
              <a:rPr lang="en-US" sz="3100" dirty="0">
                <a:latin typeface="Calibri" panose="020F0502020204030204" pitchFamily="34" charset="0"/>
                <a:cs typeface="Calibri" panose="020F0502020204030204" pitchFamily="34" charset="0"/>
              </a:rPr>
              <a:t>Review</a:t>
            </a:r>
            <a:r>
              <a:rPr lang="en-US" sz="3200" dirty="0"/>
              <a:t> </a:t>
            </a:r>
          </a:p>
        </p:txBody>
      </p:sp>
      <p:graphicFrame>
        <p:nvGraphicFramePr>
          <p:cNvPr id="5" name="Content Placeholder 4"/>
          <p:cNvGraphicFramePr>
            <a:graphicFrameLocks noGrp="1"/>
          </p:cNvGraphicFramePr>
          <p:nvPr>
            <p:ph idx="1"/>
          </p:nvPr>
        </p:nvGraphicFramePr>
        <p:xfrm>
          <a:off x="512738" y="1988840"/>
          <a:ext cx="7615262" cy="53308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buNone/>
              <a:defRPr/>
            </a:pPr>
            <a:fld id="{76D8818E-4975-47DF-8CD0-6344EFD914C9}" type="slidenum">
              <a:rPr lang="en-US" smtClean="0"/>
              <a:t>5</a:t>
            </a:fld>
            <a:endParaRPr lang="en-US" dirty="0"/>
          </a:p>
        </p:txBody>
      </p:sp>
      <p:graphicFrame>
        <p:nvGraphicFramePr>
          <p:cNvPr id="8" name="Table 7"/>
          <p:cNvGraphicFramePr>
            <a:graphicFrameLocks noGrp="1"/>
          </p:cNvGraphicFramePr>
          <p:nvPr/>
        </p:nvGraphicFramePr>
        <p:xfrm>
          <a:off x="395605" y="404664"/>
          <a:ext cx="8420735" cy="6340361"/>
        </p:xfrm>
        <a:graphic>
          <a:graphicData uri="http://schemas.openxmlformats.org/drawingml/2006/table">
            <a:tbl>
              <a:tblPr firstRow="1" bandRow="1">
                <a:tableStyleId>{F5AB1C69-6EDB-4FF4-983F-18BD219EF322}</a:tableStyleId>
              </a:tblPr>
              <a:tblGrid>
                <a:gridCol w="575945">
                  <a:extLst>
                    <a:ext uri="{9D8B030D-6E8A-4147-A177-3AD203B41FA5}">
                      <a16:colId xmlns:a16="http://schemas.microsoft.com/office/drawing/2014/main" val="20000"/>
                    </a:ext>
                  </a:extLst>
                </a:gridCol>
                <a:gridCol w="2604135">
                  <a:extLst>
                    <a:ext uri="{9D8B030D-6E8A-4147-A177-3AD203B41FA5}">
                      <a16:colId xmlns:a16="http://schemas.microsoft.com/office/drawing/2014/main" val="20001"/>
                    </a:ext>
                  </a:extLst>
                </a:gridCol>
                <a:gridCol w="1026795">
                  <a:extLst>
                    <a:ext uri="{9D8B030D-6E8A-4147-A177-3AD203B41FA5}">
                      <a16:colId xmlns:a16="http://schemas.microsoft.com/office/drawing/2014/main" val="20002"/>
                    </a:ext>
                  </a:extLst>
                </a:gridCol>
                <a:gridCol w="1278890">
                  <a:extLst>
                    <a:ext uri="{9D8B030D-6E8A-4147-A177-3AD203B41FA5}">
                      <a16:colId xmlns:a16="http://schemas.microsoft.com/office/drawing/2014/main" val="20003"/>
                    </a:ext>
                  </a:extLst>
                </a:gridCol>
                <a:gridCol w="2934970">
                  <a:extLst>
                    <a:ext uri="{9D8B030D-6E8A-4147-A177-3AD203B41FA5}">
                      <a16:colId xmlns:a16="http://schemas.microsoft.com/office/drawing/2014/main" val="20004"/>
                    </a:ext>
                  </a:extLst>
                </a:gridCol>
              </a:tblGrid>
              <a:tr h="941658">
                <a:tc>
                  <a:txBody>
                    <a:bodyPr/>
                    <a:lstStyle/>
                    <a:p>
                      <a:r>
                        <a:rPr lang="en-IN" dirty="0"/>
                        <a:t>S</a:t>
                      </a:r>
                      <a:r>
                        <a:rPr lang="en-CA" altLang="en-IN" dirty="0"/>
                        <a:t>r</a:t>
                      </a:r>
                      <a:r>
                        <a:rPr lang="en-IN" dirty="0"/>
                        <a:t>. No.</a:t>
                      </a:r>
                    </a:p>
                  </a:txBody>
                  <a:tcPr/>
                </a:tc>
                <a:tc>
                  <a:txBody>
                    <a:bodyPr/>
                    <a:lstStyle/>
                    <a:p>
                      <a:r>
                        <a:rPr lang="en-IN" dirty="0"/>
                        <a:t>Paper Title</a:t>
                      </a:r>
                    </a:p>
                  </a:txBody>
                  <a:tcPr/>
                </a:tc>
                <a:tc>
                  <a:txBody>
                    <a:bodyPr/>
                    <a:lstStyle/>
                    <a:p>
                      <a:r>
                        <a:rPr lang="en-IN" dirty="0"/>
                        <a:t>Journal with Year</a:t>
                      </a:r>
                    </a:p>
                  </a:txBody>
                  <a:tcPr/>
                </a:tc>
                <a:tc>
                  <a:txBody>
                    <a:bodyPr/>
                    <a:lstStyle/>
                    <a:p>
                      <a:r>
                        <a:rPr lang="en-IN" dirty="0"/>
                        <a:t>Methods</a:t>
                      </a:r>
                    </a:p>
                  </a:txBody>
                  <a:tcPr/>
                </a:tc>
                <a:tc>
                  <a:txBody>
                    <a:bodyPr/>
                    <a:lstStyle/>
                    <a:p>
                      <a:r>
                        <a:rPr lang="en-US" altLang="en-IN" dirty="0"/>
                        <a:t>Outcomes</a:t>
                      </a:r>
                    </a:p>
                  </a:txBody>
                  <a:tcPr/>
                </a:tc>
                <a:extLst>
                  <a:ext uri="{0D108BD9-81ED-4DB2-BD59-A6C34878D82A}">
                    <a16:rowId xmlns:a16="http://schemas.microsoft.com/office/drawing/2014/main" val="10000"/>
                  </a:ext>
                </a:extLst>
              </a:tr>
              <a:tr h="1067077">
                <a:tc>
                  <a:txBody>
                    <a:bodyPr/>
                    <a:lstStyle/>
                    <a:p>
                      <a:r>
                        <a:rPr lang="en-IN" dirty="0"/>
                        <a:t>1</a:t>
                      </a:r>
                    </a:p>
                  </a:txBody>
                  <a:tcPr/>
                </a:tc>
                <a:tc>
                  <a:txBody>
                    <a:bodyPr/>
                    <a:lstStyle/>
                    <a:p>
                      <a:r>
                        <a:rPr lang="en-US" altLang="en-IN" sz="1400" dirty="0">
                          <a:latin typeface="Calibri" panose="020F0502020204030204" pitchFamily="34" charset="0"/>
                          <a:cs typeface="Calibri" panose="020F0502020204030204" pitchFamily="34" charset="0"/>
                        </a:rPr>
                        <a:t>Sales prediction model for big mart</a:t>
                      </a:r>
                      <a:r>
                        <a:rPr lang="en-US" altLang="en-IN" sz="1400" baseline="30000" dirty="0">
                          <a:latin typeface="Calibri" panose="020F0502020204030204" pitchFamily="34" charset="0"/>
                          <a:cs typeface="Calibri" panose="020F0502020204030204" pitchFamily="34" charset="0"/>
                        </a:rPr>
                        <a:t>[2]</a:t>
                      </a:r>
                    </a:p>
                  </a:txBody>
                  <a:tcPr/>
                </a:tc>
                <a:tc>
                  <a:txBody>
                    <a:bodyPr/>
                    <a:lstStyle/>
                    <a:p>
                      <a:r>
                        <a:rPr lang="en-US" altLang="en-IN" sz="1400" dirty="0">
                          <a:latin typeface="Calibri" panose="020F0502020204030204" pitchFamily="34" charset="0"/>
                          <a:cs typeface="Calibri" panose="020F0502020204030204" pitchFamily="34" charset="0"/>
                        </a:rPr>
                        <a:t>IEEE</a:t>
                      </a:r>
                      <a:r>
                        <a:rPr lang="en-CA" altLang="en-US" sz="1400" dirty="0">
                          <a:latin typeface="Calibri" panose="020F0502020204030204" pitchFamily="34" charset="0"/>
                          <a:cs typeface="Calibri" panose="020F0502020204030204" pitchFamily="34" charset="0"/>
                        </a:rPr>
                        <a:t>, </a:t>
                      </a:r>
                      <a:r>
                        <a:rPr lang="en-US" altLang="en-IN" sz="1400" dirty="0">
                          <a:latin typeface="Calibri" panose="020F0502020204030204" pitchFamily="34" charset="0"/>
                          <a:cs typeface="Calibri" panose="020F0502020204030204" pitchFamily="34" charset="0"/>
                        </a:rPr>
                        <a:t>2020</a:t>
                      </a:r>
                    </a:p>
                    <a:p>
                      <a:r>
                        <a:rPr lang="en-CA" altLang="en-US" sz="1400" dirty="0">
                          <a:latin typeface="Calibri" panose="020F0502020204030204" pitchFamily="34" charset="0"/>
                          <a:cs typeface="Calibri" panose="020F0502020204030204" pitchFamily="34" charset="0"/>
                        </a:rPr>
                        <a:t>(journal)</a:t>
                      </a:r>
                    </a:p>
                  </a:txBody>
                  <a:tcPr/>
                </a:tc>
                <a:tc>
                  <a:txBody>
                    <a:bodyPr/>
                    <a:lstStyle/>
                    <a:p>
                      <a:r>
                        <a:rPr lang="en-US" altLang="en-IN" sz="1400" dirty="0">
                          <a:latin typeface="Calibri" panose="020F0502020204030204" pitchFamily="34" charset="0"/>
                          <a:cs typeface="Calibri" panose="020F0502020204030204" pitchFamily="34" charset="0"/>
                        </a:rPr>
                        <a:t>Random forest,</a:t>
                      </a:r>
                    </a:p>
                    <a:p>
                      <a:r>
                        <a:rPr lang="en-US" altLang="en-IN" sz="1400" dirty="0">
                          <a:latin typeface="Calibri" panose="020F0502020204030204" pitchFamily="34" charset="0"/>
                          <a:cs typeface="Calibri" panose="020F0502020204030204" pitchFamily="34" charset="0"/>
                        </a:rPr>
                        <a:t>linear regression</a:t>
                      </a:r>
                    </a:p>
                  </a:txBody>
                  <a:tcPr/>
                </a:tc>
                <a:tc>
                  <a:txBody>
                    <a:bodyPr/>
                    <a:lstStyle/>
                    <a:p>
                      <a:r>
                        <a:rPr lang="en-US" altLang="en-IN" sz="1400" dirty="0">
                          <a:latin typeface="Calibri" panose="020F0502020204030204" pitchFamily="34" charset="0"/>
                          <a:cs typeface="Calibri" panose="020F0502020204030204" pitchFamily="34" charset="0"/>
                        </a:rPr>
                        <a:t>Using associated data processing and modelling algorithm, sales prediction in big mart shopping centre at different location.</a:t>
                      </a:r>
                    </a:p>
                  </a:txBody>
                  <a:tcPr/>
                </a:tc>
                <a:extLst>
                  <a:ext uri="{0D108BD9-81ED-4DB2-BD59-A6C34878D82A}">
                    <a16:rowId xmlns:a16="http://schemas.microsoft.com/office/drawing/2014/main" val="10001"/>
                  </a:ext>
                </a:extLst>
              </a:tr>
              <a:tr h="1192767">
                <a:tc>
                  <a:txBody>
                    <a:bodyPr/>
                    <a:lstStyle/>
                    <a:p>
                      <a:r>
                        <a:rPr lang="en-IN" dirty="0"/>
                        <a:t>2</a:t>
                      </a:r>
                    </a:p>
                  </a:txBody>
                  <a:tcPr/>
                </a:tc>
                <a:tc>
                  <a:txBody>
                    <a:bodyPr/>
                    <a:lstStyle/>
                    <a:p>
                      <a:r>
                        <a:rPr lang="en-US" altLang="en-IN" sz="1400" dirty="0">
                          <a:latin typeface="Calibri" panose="020F0502020204030204" pitchFamily="34" charset="0"/>
                          <a:cs typeface="Calibri" panose="020F0502020204030204" pitchFamily="34" charset="0"/>
                        </a:rPr>
                        <a:t>Big mart sale prediction using Machine learning </a:t>
                      </a:r>
                      <a:r>
                        <a:rPr lang="en-US" altLang="en-IN" sz="1400" baseline="30000" dirty="0">
                          <a:latin typeface="Calibri" panose="020F0502020204030204" pitchFamily="34" charset="0"/>
                          <a:cs typeface="Calibri" panose="020F0502020204030204" pitchFamily="34" charset="0"/>
                        </a:rPr>
                        <a:t>[5]</a:t>
                      </a:r>
                    </a:p>
                  </a:txBody>
                  <a:tcPr/>
                </a:tc>
                <a:tc>
                  <a:txBody>
                    <a:bodyPr/>
                    <a:lstStyle/>
                    <a:p>
                      <a:r>
                        <a:rPr lang="en-CA" altLang="en-US" sz="1400" dirty="0">
                          <a:latin typeface="Calibri" panose="020F0502020204030204" pitchFamily="34" charset="0"/>
                          <a:cs typeface="Calibri" panose="020F0502020204030204" pitchFamily="34" charset="0"/>
                        </a:rPr>
                        <a:t>IEEE, </a:t>
                      </a:r>
                      <a:r>
                        <a:rPr lang="en-US" altLang="en-IN" sz="1400" dirty="0">
                          <a:latin typeface="Calibri" panose="020F0502020204030204" pitchFamily="34" charset="0"/>
                          <a:cs typeface="Calibri" panose="020F0502020204030204" pitchFamily="34" charset="0"/>
                        </a:rPr>
                        <a:t>2021</a:t>
                      </a:r>
                    </a:p>
                    <a:p>
                      <a:r>
                        <a:rPr lang="en-CA" altLang="en-US" sz="1400" dirty="0">
                          <a:latin typeface="Calibri" panose="020F0502020204030204" pitchFamily="34" charset="0"/>
                          <a:cs typeface="Calibri" panose="020F0502020204030204" pitchFamily="34" charset="0"/>
                          <a:sym typeface="+mn-ea"/>
                        </a:rPr>
                        <a:t>(journal)</a:t>
                      </a:r>
                      <a:endParaRPr lang="en-CA" altLang="en-US" sz="1400" dirty="0">
                        <a:latin typeface="Calibri" panose="020F0502020204030204" pitchFamily="34" charset="0"/>
                        <a:cs typeface="Calibri" panose="020F0502020204030204" pitchFamily="34" charset="0"/>
                      </a:endParaRPr>
                    </a:p>
                    <a:p>
                      <a:endParaRPr lang="en-US" altLang="en-IN" sz="1400" dirty="0">
                        <a:latin typeface="Calibri" panose="020F0502020204030204" pitchFamily="34" charset="0"/>
                        <a:cs typeface="Calibri" panose="020F0502020204030204" pitchFamily="34" charset="0"/>
                      </a:endParaRPr>
                    </a:p>
                  </a:txBody>
                  <a:tcPr/>
                </a:tc>
                <a:tc>
                  <a:txBody>
                    <a:bodyPr/>
                    <a:lstStyle/>
                    <a:p>
                      <a:r>
                        <a:rPr lang="en-US" altLang="en-IN" sz="1400" dirty="0">
                          <a:latin typeface="Calibri" panose="020F0502020204030204" pitchFamily="34" charset="0"/>
                          <a:cs typeface="Calibri" panose="020F0502020204030204" pitchFamily="34" charset="0"/>
                        </a:rPr>
                        <a:t>linear regression,</a:t>
                      </a:r>
                    </a:p>
                    <a:p>
                      <a:r>
                        <a:rPr lang="en-US" altLang="en-IN" sz="1400" dirty="0">
                          <a:latin typeface="Calibri" panose="020F0502020204030204" pitchFamily="34" charset="0"/>
                          <a:cs typeface="Calibri" panose="020F0502020204030204" pitchFamily="34" charset="0"/>
                        </a:rPr>
                        <a:t>Random forest,</a:t>
                      </a:r>
                    </a:p>
                    <a:p>
                      <a:r>
                        <a:rPr lang="en-US" altLang="en-IN" sz="1400" dirty="0">
                          <a:latin typeface="Calibri" panose="020F0502020204030204" pitchFamily="34" charset="0"/>
                          <a:cs typeface="Calibri" panose="020F0502020204030204" pitchFamily="34" charset="0"/>
                        </a:rPr>
                        <a:t>XG boost</a:t>
                      </a:r>
                    </a:p>
                  </a:txBody>
                  <a:tcPr/>
                </a:tc>
                <a:tc>
                  <a:txBody>
                    <a:bodyPr/>
                    <a:lstStyle/>
                    <a:p>
                      <a:r>
                        <a:rPr lang="en-US" altLang="en-IN" sz="1400" dirty="0">
                          <a:latin typeface="Calibri" panose="020F0502020204030204" pitchFamily="34" charset="0"/>
                          <a:cs typeface="Calibri" panose="020F0502020204030204" pitchFamily="34" charset="0"/>
                        </a:rPr>
                        <a:t>Using smart sale forecasting program, vast volumes of data is managed for business organization.</a:t>
                      </a:r>
                    </a:p>
                  </a:txBody>
                  <a:tcPr/>
                </a:tc>
                <a:extLst>
                  <a:ext uri="{0D108BD9-81ED-4DB2-BD59-A6C34878D82A}">
                    <a16:rowId xmlns:a16="http://schemas.microsoft.com/office/drawing/2014/main" val="10002"/>
                  </a:ext>
                </a:extLst>
              </a:tr>
              <a:tr h="1192767">
                <a:tc>
                  <a:txBody>
                    <a:bodyPr/>
                    <a:lstStyle/>
                    <a:p>
                      <a:r>
                        <a:rPr lang="en-IN" dirty="0"/>
                        <a:t>3</a:t>
                      </a:r>
                    </a:p>
                  </a:txBody>
                  <a:tcPr/>
                </a:tc>
                <a:tc>
                  <a:txBody>
                    <a:bodyPr/>
                    <a:lstStyle/>
                    <a:p>
                      <a:r>
                        <a:rPr lang="en-US" altLang="en-IN" sz="1400" dirty="0">
                          <a:latin typeface="Calibri" panose="020F0502020204030204" pitchFamily="34" charset="0"/>
                          <a:cs typeface="Calibri" panose="020F0502020204030204" pitchFamily="34" charset="0"/>
                        </a:rPr>
                        <a:t>Machine Learning Application for Black Friday Sales Prediction Framework</a:t>
                      </a:r>
                      <a:r>
                        <a:rPr lang="en-US" altLang="en-IN" sz="1400" baseline="30000" dirty="0">
                          <a:latin typeface="Calibri" panose="020F0502020204030204" pitchFamily="34" charset="0"/>
                          <a:cs typeface="Calibri" panose="020F0502020204030204" pitchFamily="34" charset="0"/>
                        </a:rPr>
                        <a:t>[6]</a:t>
                      </a:r>
                    </a:p>
                  </a:txBody>
                  <a:tcPr/>
                </a:tc>
                <a:tc>
                  <a:txBody>
                    <a:bodyPr/>
                    <a:lstStyle/>
                    <a:p>
                      <a:r>
                        <a:rPr lang="en-IN" sz="1400" dirty="0">
                          <a:latin typeface="Calibri" panose="020F0502020204030204" pitchFamily="34" charset="0"/>
                          <a:cs typeface="Calibri" panose="020F0502020204030204" pitchFamily="34" charset="0"/>
                        </a:rPr>
                        <a:t>IEEE, 2021</a:t>
                      </a:r>
                    </a:p>
                    <a:p>
                      <a:r>
                        <a:rPr lang="en-CA" altLang="en-US" sz="1400" dirty="0">
                          <a:latin typeface="Calibri" panose="020F0502020204030204" pitchFamily="34" charset="0"/>
                          <a:cs typeface="Calibri" panose="020F0502020204030204" pitchFamily="34" charset="0"/>
                          <a:sym typeface="+mn-ea"/>
                        </a:rPr>
                        <a:t>(journal)</a:t>
                      </a:r>
                      <a:endParaRPr lang="en-CA" altLang="en-US"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txBody>
                  <a:tcPr/>
                </a:tc>
                <a:tc>
                  <a:txBody>
                    <a:bodyPr/>
                    <a:lstStyle/>
                    <a:p>
                      <a:r>
                        <a:rPr lang="en-IN" sz="1400" dirty="0">
                          <a:latin typeface="Calibri" panose="020F0502020204030204" pitchFamily="34" charset="0"/>
                          <a:cs typeface="Calibri" panose="020F0502020204030204" pitchFamily="34" charset="0"/>
                        </a:rPr>
                        <a:t>Random Forest, XGBoost</a:t>
                      </a:r>
                    </a:p>
                  </a:txBody>
                  <a:tcPr/>
                </a:tc>
                <a:tc>
                  <a:txBody>
                    <a:bodyPr/>
                    <a:lstStyle/>
                    <a:p>
                      <a:r>
                        <a:rPr lang="en-CA" altLang="en-IN" sz="1400" dirty="0">
                          <a:latin typeface="Calibri" panose="020F0502020204030204" pitchFamily="34" charset="0"/>
                          <a:cs typeface="Calibri" panose="020F0502020204030204" pitchFamily="34" charset="0"/>
                        </a:rPr>
                        <a:t>U</a:t>
                      </a:r>
                      <a:r>
                        <a:rPr lang="en-IN" sz="1400" dirty="0">
                          <a:latin typeface="Calibri" panose="020F0502020204030204" pitchFamily="34" charset="0"/>
                          <a:cs typeface="Calibri" panose="020F0502020204030204" pitchFamily="34" charset="0"/>
                        </a:rPr>
                        <a:t>se Exploratory data analysis is find interesting trends from</a:t>
                      </a:r>
                    </a:p>
                    <a:p>
                      <a:r>
                        <a:rPr lang="en-IN" sz="1400" dirty="0">
                          <a:latin typeface="Calibri" panose="020F0502020204030204" pitchFamily="34" charset="0"/>
                          <a:cs typeface="Calibri" panose="020F0502020204030204" pitchFamily="34" charset="0"/>
                        </a:rPr>
                        <a:t>the dataset and the amount that a customer is likely to spend on</a:t>
                      </a:r>
                    </a:p>
                    <a:p>
                      <a:r>
                        <a:rPr lang="en-IN" sz="1400" dirty="0">
                          <a:latin typeface="Calibri" panose="020F0502020204030204" pitchFamily="34" charset="0"/>
                          <a:cs typeface="Calibri" panose="020F0502020204030204" pitchFamily="34" charset="0"/>
                        </a:rPr>
                        <a:t>next “Black Friday” sale.</a:t>
                      </a:r>
                    </a:p>
                  </a:txBody>
                  <a:tcPr/>
                </a:tc>
                <a:extLst>
                  <a:ext uri="{0D108BD9-81ED-4DB2-BD59-A6C34878D82A}">
                    <a16:rowId xmlns:a16="http://schemas.microsoft.com/office/drawing/2014/main" val="10003"/>
                  </a:ext>
                </a:extLst>
              </a:tr>
              <a:tr h="973046">
                <a:tc>
                  <a:txBody>
                    <a:bodyPr/>
                    <a:lstStyle/>
                    <a:p>
                      <a:r>
                        <a:rPr lang="en-IN" dirty="0"/>
                        <a:t>4</a:t>
                      </a:r>
                    </a:p>
                  </a:txBody>
                  <a:tcPr/>
                </a:tc>
                <a:tc>
                  <a:txBody>
                    <a:bodyPr/>
                    <a:lstStyle/>
                    <a:p>
                      <a:r>
                        <a:rPr lang="en-IN" sz="1400" dirty="0">
                          <a:latin typeface="Calibri" panose="020F0502020204030204" pitchFamily="34" charset="0"/>
                          <a:cs typeface="Calibri" panose="020F0502020204030204" pitchFamily="34" charset="0"/>
                          <a:sym typeface="+mn-ea"/>
                        </a:rPr>
                        <a:t>Prediction Analysis Sales for Corporate Services Telecommunications Company using Gradient Boost Algorithm</a:t>
                      </a:r>
                      <a:r>
                        <a:rPr lang="en-US" altLang="en-IN" sz="1400" baseline="30000" dirty="0">
                          <a:latin typeface="Calibri" panose="020F0502020204030204" pitchFamily="34" charset="0"/>
                          <a:cs typeface="Calibri" panose="020F0502020204030204" pitchFamily="34" charset="0"/>
                          <a:sym typeface="+mn-ea"/>
                        </a:rPr>
                        <a:t>[8]</a:t>
                      </a:r>
                    </a:p>
                  </a:txBody>
                  <a:tcPr/>
                </a:tc>
                <a:tc>
                  <a:txBody>
                    <a:bodyPr/>
                    <a:lstStyle/>
                    <a:p>
                      <a:r>
                        <a:rPr lang="en-IN" sz="1400" dirty="0">
                          <a:latin typeface="Calibri" panose="020F0502020204030204" pitchFamily="34" charset="0"/>
                          <a:cs typeface="Calibri" panose="020F0502020204030204" pitchFamily="34" charset="0"/>
                          <a:sym typeface="+mn-ea"/>
                        </a:rPr>
                        <a:t>IEEE, 2020</a:t>
                      </a:r>
                    </a:p>
                    <a:p>
                      <a:r>
                        <a:rPr lang="en-CA" altLang="en-US" sz="1400" dirty="0">
                          <a:latin typeface="Calibri" panose="020F0502020204030204" pitchFamily="34" charset="0"/>
                          <a:cs typeface="Calibri" panose="020F0502020204030204" pitchFamily="34" charset="0"/>
                          <a:sym typeface="+mn-ea"/>
                        </a:rPr>
                        <a:t>(journal)</a:t>
                      </a:r>
                      <a:endParaRPr lang="en-CA" altLang="en-US"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txBody>
                  <a:tcPr/>
                </a:tc>
                <a:tc>
                  <a:txBody>
                    <a:bodyPr/>
                    <a:lstStyle/>
                    <a:p>
                      <a:r>
                        <a:rPr lang="en-IN" sz="1400" dirty="0">
                          <a:latin typeface="Calibri" panose="020F0502020204030204" pitchFamily="34" charset="0"/>
                          <a:cs typeface="Calibri" panose="020F0502020204030204" pitchFamily="34" charset="0"/>
                          <a:sym typeface="+mn-ea"/>
                        </a:rPr>
                        <a:t>Gradient Boost</a:t>
                      </a:r>
                      <a:r>
                        <a:rPr lang="en-IN" sz="1400" dirty="0">
                          <a:sym typeface="+mn-ea"/>
                        </a:rPr>
                        <a:t> </a:t>
                      </a:r>
                      <a:endParaRPr lang="en-IN" sz="1400" dirty="0"/>
                    </a:p>
                    <a:p>
                      <a:endParaRPr lang="en-IN" sz="1400" dirty="0">
                        <a:latin typeface="Calibri" panose="020F0502020204030204" pitchFamily="34" charset="0"/>
                        <a:cs typeface="Calibri" panose="020F0502020204030204" pitchFamily="34" charset="0"/>
                      </a:endParaRPr>
                    </a:p>
                  </a:txBody>
                  <a:tcPr/>
                </a:tc>
                <a:tc>
                  <a:txBody>
                    <a:bodyPr/>
                    <a:lstStyle/>
                    <a:p>
                      <a:r>
                        <a:rPr lang="en-IN" sz="1400" dirty="0">
                          <a:latin typeface="Calibri" panose="020F0502020204030204" pitchFamily="34" charset="0"/>
                          <a:cs typeface="Calibri" panose="020F0502020204030204" pitchFamily="34" charset="0"/>
                        </a:rPr>
                        <a:t>Comparison between</a:t>
                      </a:r>
                      <a:r>
                        <a:rPr lang="en-CA" altLang="en-IN" sz="1400" dirty="0">
                          <a:latin typeface="Calibri" panose="020F0502020204030204" pitchFamily="34" charset="0"/>
                          <a:cs typeface="Calibri" panose="020F0502020204030204" pitchFamily="34" charset="0"/>
                        </a:rPr>
                        <a:t> </a:t>
                      </a:r>
                      <a:r>
                        <a:rPr lang="en-IN" sz="1400" dirty="0">
                          <a:latin typeface="Calibri" panose="020F0502020204030204" pitchFamily="34" charset="0"/>
                          <a:cs typeface="Calibri" panose="020F0502020204030204" pitchFamily="34" charset="0"/>
                        </a:rPr>
                        <a:t>four machine</a:t>
                      </a:r>
                      <a:r>
                        <a:rPr lang="en-CA" altLang="en-IN" sz="1400" dirty="0">
                          <a:latin typeface="Calibri" panose="020F0502020204030204" pitchFamily="34" charset="0"/>
                          <a:cs typeface="Calibri" panose="020F0502020204030204" pitchFamily="34" charset="0"/>
                        </a:rPr>
                        <a:t> </a:t>
                      </a:r>
                      <a:r>
                        <a:rPr lang="en-IN" sz="1400" dirty="0">
                          <a:latin typeface="Calibri" panose="020F0502020204030204" pitchFamily="34" charset="0"/>
                          <a:cs typeface="Calibri" panose="020F0502020204030204" pitchFamily="34" charset="0"/>
                        </a:rPr>
                        <a:t>learning approaches used in B2B sales to determine the type of prediction</a:t>
                      </a:r>
                      <a:r>
                        <a:rPr lang="en-CA" altLang="en-IN" sz="1400" dirty="0">
                          <a:latin typeface="Calibri" panose="020F0502020204030204" pitchFamily="34" charset="0"/>
                          <a:cs typeface="Calibri" panose="020F0502020204030204" pitchFamily="34" charset="0"/>
                        </a:rPr>
                        <a:t> </a:t>
                      </a:r>
                      <a:r>
                        <a:rPr lang="en-IN" sz="1400" dirty="0">
                          <a:latin typeface="Calibri" panose="020F0502020204030204" pitchFamily="34" charset="0"/>
                          <a:cs typeface="Calibri" panose="020F0502020204030204" pitchFamily="34" charset="0"/>
                        </a:rPr>
                        <a:t>analysis that is reliable and accurate.</a:t>
                      </a:r>
                    </a:p>
                  </a:txBody>
                  <a:tcPr/>
                </a:tc>
                <a:extLst>
                  <a:ext uri="{0D108BD9-81ED-4DB2-BD59-A6C34878D82A}">
                    <a16:rowId xmlns:a16="http://schemas.microsoft.com/office/drawing/2014/main" val="10004"/>
                  </a:ext>
                </a:extLst>
              </a:tr>
              <a:tr h="973046">
                <a:tc>
                  <a:txBody>
                    <a:bodyPr/>
                    <a:lstStyle/>
                    <a:p>
                      <a:r>
                        <a:rPr lang="en-IN" dirty="0"/>
                        <a:t>5</a:t>
                      </a:r>
                    </a:p>
                  </a:txBody>
                  <a:tcPr/>
                </a:tc>
                <a:tc>
                  <a:txBody>
                    <a:bodyPr/>
                    <a:lstStyle/>
                    <a:p>
                      <a:r>
                        <a:rPr lang="en-IN" sz="1400" dirty="0">
                          <a:latin typeface="Calibri" panose="020F0502020204030204" pitchFamily="34" charset="0"/>
                          <a:cs typeface="Calibri" panose="020F0502020204030204" pitchFamily="34" charset="0"/>
                          <a:sym typeface="+mn-ea"/>
                        </a:rPr>
                        <a:t>A Multi-Task Prediction Framework for Sales Prediction</a:t>
                      </a:r>
                      <a:r>
                        <a:rPr lang="en-US" altLang="en-IN" sz="1400" baseline="30000" dirty="0">
                          <a:latin typeface="Calibri" panose="020F0502020204030204" pitchFamily="34" charset="0"/>
                          <a:cs typeface="Calibri" panose="020F0502020204030204" pitchFamily="34" charset="0"/>
                          <a:sym typeface="+mn-ea"/>
                        </a:rPr>
                        <a:t>[9]</a:t>
                      </a:r>
                      <a:endParaRPr lang="en-IN"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txBody>
                  <a:tcPr/>
                </a:tc>
                <a:tc>
                  <a:txBody>
                    <a:bodyPr/>
                    <a:lstStyle/>
                    <a:p>
                      <a:r>
                        <a:rPr lang="en-IN" sz="1400" dirty="0">
                          <a:latin typeface="Calibri" panose="020F0502020204030204" pitchFamily="34" charset="0"/>
                          <a:cs typeface="Calibri" panose="020F0502020204030204" pitchFamily="34" charset="0"/>
                        </a:rPr>
                        <a:t>IEEE, 2021</a:t>
                      </a:r>
                    </a:p>
                    <a:p>
                      <a:r>
                        <a:rPr lang="en-CA" altLang="en-US" sz="1400" dirty="0">
                          <a:latin typeface="Calibri" panose="020F0502020204030204" pitchFamily="34" charset="0"/>
                          <a:cs typeface="Calibri" panose="020F0502020204030204" pitchFamily="34" charset="0"/>
                          <a:sym typeface="+mn-ea"/>
                        </a:rPr>
                        <a:t>(journal)</a:t>
                      </a:r>
                      <a:endParaRPr lang="en-CA" altLang="en-US" sz="1400" dirty="0">
                        <a:latin typeface="Calibri" panose="020F0502020204030204" pitchFamily="34" charset="0"/>
                        <a:cs typeface="Calibri" panose="020F0502020204030204" pitchFamily="34" charset="0"/>
                      </a:endParaRPr>
                    </a:p>
                    <a:p>
                      <a:endParaRPr lang="en-IN" sz="1400" dirty="0">
                        <a:latin typeface="Calibri" panose="020F0502020204030204" pitchFamily="34" charset="0"/>
                        <a:cs typeface="Calibri" panose="020F0502020204030204" pitchFamily="34" charset="0"/>
                      </a:endParaRPr>
                    </a:p>
                  </a:txBody>
                  <a:tcPr/>
                </a:tc>
                <a:tc>
                  <a:txBody>
                    <a:bodyPr/>
                    <a:lstStyle/>
                    <a:p>
                      <a:r>
                        <a:rPr lang="en-IN" sz="1400" dirty="0">
                          <a:latin typeface="Calibri" panose="020F0502020204030204" pitchFamily="34" charset="0"/>
                          <a:cs typeface="Calibri" panose="020F0502020204030204" pitchFamily="34" charset="0"/>
                        </a:rPr>
                        <a:t>Gradient Boost, Linear</a:t>
                      </a:r>
                      <a:r>
                        <a:rPr lang="en-CA" altLang="en-IN" sz="1400" dirty="0">
                          <a:latin typeface="Calibri" panose="020F0502020204030204" pitchFamily="34" charset="0"/>
                          <a:cs typeface="Calibri" panose="020F0502020204030204" pitchFamily="34" charset="0"/>
                        </a:rPr>
                        <a:t> </a:t>
                      </a:r>
                      <a:r>
                        <a:rPr lang="en-IN" sz="1400" dirty="0">
                          <a:latin typeface="Calibri" panose="020F0502020204030204" pitchFamily="34" charset="0"/>
                          <a:cs typeface="Calibri" panose="020F0502020204030204" pitchFamily="34" charset="0"/>
                        </a:rPr>
                        <a:t>Regression</a:t>
                      </a:r>
                    </a:p>
                  </a:txBody>
                  <a:tcPr/>
                </a:tc>
                <a:tc>
                  <a:txBody>
                    <a:bodyPr/>
                    <a:lstStyle/>
                    <a:p>
                      <a:r>
                        <a:rPr lang="en-CA" altLang="en-IN" sz="1400" dirty="0">
                          <a:latin typeface="Calibri" panose="020F0502020204030204" pitchFamily="34" charset="0"/>
                          <a:cs typeface="Calibri" panose="020F0502020204030204" pitchFamily="34" charset="0"/>
                        </a:rPr>
                        <a:t>A </a:t>
                      </a:r>
                      <a:r>
                        <a:rPr lang="en-IN" sz="1400" dirty="0">
                          <a:latin typeface="Calibri" panose="020F0502020204030204" pitchFamily="34" charset="0"/>
                          <a:cs typeface="Calibri" panose="020F0502020204030204" pitchFamily="34" charset="0"/>
                        </a:rPr>
                        <a:t>multi-task prediction task</a:t>
                      </a:r>
                    </a:p>
                    <a:p>
                      <a:r>
                        <a:rPr lang="en-IN" sz="1400" dirty="0">
                          <a:latin typeface="Calibri" panose="020F0502020204030204" pitchFamily="34" charset="0"/>
                          <a:cs typeface="Calibri" panose="020F0502020204030204" pitchFamily="34" charset="0"/>
                        </a:rPr>
                        <a:t>which applies the seller prediction to guide the sales volume</a:t>
                      </a:r>
                    </a:p>
                    <a:p>
                      <a:r>
                        <a:rPr lang="en-IN" sz="1400" dirty="0">
                          <a:latin typeface="Calibri" panose="020F0502020204030204" pitchFamily="34" charset="0"/>
                          <a:cs typeface="Calibri" panose="020F0502020204030204" pitchFamily="34" charset="0"/>
                        </a:rPr>
                        <a:t>prediction.</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980728"/>
            <a:ext cx="6347713" cy="949672"/>
          </a:xfrm>
        </p:spPr>
        <p:txBody>
          <a:bodyPr/>
          <a:lstStyle/>
          <a:p>
            <a:r>
              <a:rPr lang="en-IN" sz="3600" dirty="0">
                <a:latin typeface="Calibri" panose="020F0502020204030204" pitchFamily="34" charset="0"/>
                <a:cs typeface="Calibri" panose="020F0502020204030204" pitchFamily="34" charset="0"/>
              </a:rPr>
              <a:t>Research Gap</a:t>
            </a:r>
            <a:r>
              <a:rPr lang="en-IN" sz="3600" baseline="30000" dirty="0">
                <a:latin typeface="Calibri" panose="020F0502020204030204" pitchFamily="34" charset="0"/>
                <a:cs typeface="Calibri" panose="020F0502020204030204" pitchFamily="34" charset="0"/>
              </a:rPr>
              <a:t>[1][3]</a:t>
            </a:r>
            <a:endParaRPr lang="en-IN" altLang="en-IN" sz="3600" baseline="30000"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000100" y="2143116"/>
            <a:ext cx="7290055" cy="2870060"/>
          </a:xfrm>
        </p:spPr>
        <p:txBody>
          <a:bodyPr>
            <a:normAutofit/>
          </a:bodyPr>
          <a:lstStyle/>
          <a:p>
            <a:pPr>
              <a:lnSpc>
                <a:spcPct val="100000"/>
              </a:lnSpc>
              <a:buFont typeface="Arial" panose="020B0604020202020204" pitchFamily="34" charset="0"/>
              <a:buChar char="•"/>
            </a:pPr>
            <a:r>
              <a:rPr lang="en-IN" dirty="0">
                <a:latin typeface="Calibri" panose="020F0502020204030204" pitchFamily="34" charset="0"/>
                <a:cs typeface="Calibri" panose="020F0502020204030204" pitchFamily="34" charset="0"/>
              </a:rPr>
              <a:t> Difficulty in determining the type of prediction analysis that is accurate.</a:t>
            </a:r>
            <a:endParaRPr lang="en-IN" sz="1600" dirty="0">
              <a:latin typeface="Calibri" panose="020F0502020204030204" pitchFamily="34" charset="0"/>
              <a:cs typeface="Calibri" panose="020F0502020204030204" pitchFamily="34" charset="0"/>
            </a:endParaRPr>
          </a:p>
          <a:p>
            <a:pPr>
              <a:lnSpc>
                <a:spcPct val="100000"/>
              </a:lnSpc>
              <a:buFont typeface="Arial" panose="020B0604020202020204" pitchFamily="34" charset="0"/>
              <a:buChar char="•"/>
            </a:pPr>
            <a:r>
              <a:rPr lang="en-IN" dirty="0">
                <a:latin typeface="Calibri" panose="020F0502020204030204" pitchFamily="34" charset="0"/>
                <a:cs typeface="Calibri" panose="020F0502020204030204" pitchFamily="34" charset="0"/>
              </a:rPr>
              <a:t> The other factor that caught our attention was the absence of any sales predictions that used the ARIMA model. We are implementing this model in order to obtain a time series graph that will allow us to even forecast when the prediction will arrive.</a:t>
            </a:r>
            <a:endParaRPr lang="en-IN" sz="4000" dirty="0">
              <a:latin typeface="Calibri" panose="020F0502020204030204" pitchFamily="34" charset="0"/>
              <a:cs typeface="Calibri" panose="020F0502020204030204" pitchFamily="34" charset="0"/>
              <a:sym typeface="+mn-ea"/>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980728"/>
            <a:ext cx="6347713" cy="949672"/>
          </a:xfrm>
        </p:spPr>
        <p:txBody>
          <a:bodyPr>
            <a:normAutofit/>
          </a:bodyPr>
          <a:lstStyle/>
          <a:p>
            <a:r>
              <a:rPr lang="en-IN" sz="3600" dirty="0">
                <a:latin typeface="Calibri" panose="020F0502020204030204" pitchFamily="34" charset="0"/>
                <a:cs typeface="Calibri" panose="020F0502020204030204" pitchFamily="34" charset="0"/>
              </a:rPr>
              <a:t>Problem Statement</a:t>
            </a:r>
          </a:p>
        </p:txBody>
      </p:sp>
      <p:sp>
        <p:nvSpPr>
          <p:cNvPr id="3" name="Content Placeholder 2"/>
          <p:cNvSpPr>
            <a:spLocks noGrp="1"/>
          </p:cNvSpPr>
          <p:nvPr>
            <p:ph idx="1"/>
          </p:nvPr>
        </p:nvSpPr>
        <p:spPr>
          <a:xfrm>
            <a:off x="611560" y="2132732"/>
            <a:ext cx="7806631" cy="4023360"/>
          </a:xfrm>
        </p:spPr>
        <p:txBody>
          <a:bodyPr vert="horz" lIns="45720" tIns="45720" rIns="45720" bIns="45720" rtlCol="0" anchor="t">
            <a:normAutofit/>
          </a:bodyPr>
          <a:lstStyle/>
          <a:p>
            <a:pPr algn="just">
              <a:buFont typeface="Arial" panose="020B0604020202020204" pitchFamily="34" charset="0"/>
              <a:buChar char="•"/>
            </a:pPr>
            <a:r>
              <a:rPr lang="en-US" b="1" dirty="0">
                <a:latin typeface="Calibri" panose="020F0502020204030204" pitchFamily="34" charset="0"/>
                <a:cs typeface="Calibri" panose="020F0502020204030204" pitchFamily="34" charset="0"/>
              </a:rPr>
              <a:t> </a:t>
            </a:r>
            <a:r>
              <a:rPr lang="en-IN" b="1" dirty="0">
                <a:latin typeface="Calibri" panose="020F0502020204030204" pitchFamily="34" charset="0"/>
                <a:cs typeface="Calibri" panose="020F0502020204030204" pitchFamily="34" charset="0"/>
              </a:rPr>
              <a:t>Regression </a:t>
            </a:r>
            <a:r>
              <a:rPr lang="en-IN" dirty="0">
                <a:latin typeface="Calibri" panose="020F0502020204030204" pitchFamily="34" charset="0"/>
                <a:cs typeface="Calibri" panose="020F0502020204030204" pitchFamily="34" charset="0"/>
              </a:rPr>
              <a:t>is an important machine learning model for these kinds of problems. Predicting sales of a company needs time series data of that company and based on that data the model can predict the future sales of that company or product.</a:t>
            </a:r>
          </a:p>
          <a:p>
            <a:pPr algn="just">
              <a:buFont typeface="Arial" panose="020B0604020202020204" pitchFamily="34" charset="0"/>
              <a:buChar char="•"/>
            </a:pPr>
            <a:r>
              <a:rPr lang="en-IN" dirty="0">
                <a:latin typeface="Calibri" panose="020F0502020204030204" pitchFamily="34" charset="0"/>
                <a:cs typeface="Calibri" panose="020F0502020204030204" pitchFamily="34" charset="0"/>
              </a:rPr>
              <a:t> So, in this research project we will analyze the time series sales data of a company and will predict the sales of the company for the coming quarter and for a specific product. For this kind of project of sales predict, we will apply the XG Boost algorithm and evaluate the result based on the training, testing and validation set of the data.</a:t>
            </a:r>
            <a:endParaRPr lang="en-US" altLang="en-IN" dirty="0">
              <a:latin typeface="Calibri" panose="020F0502020204030204" pitchFamily="34" charset="0"/>
              <a:cs typeface="Calibri" panose="020F0502020204030204" pitchFamily="34" charset="0"/>
              <a:sym typeface="+mn-ea"/>
            </a:endParaRPr>
          </a:p>
          <a:p>
            <a:pPr algn="just">
              <a:buFont typeface="Arial" panose="020B0604020202020204" pitchFamily="34" charset="0"/>
              <a:buChar char="•"/>
            </a:pPr>
            <a:endParaRPr lang="en-US"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8183" y="620688"/>
            <a:ext cx="7290054" cy="1499616"/>
          </a:xfrm>
        </p:spPr>
        <p:txBody>
          <a:bodyPr>
            <a:normAutofit/>
          </a:bodyPr>
          <a:lstStyle/>
          <a:p>
            <a:r>
              <a:rPr lang="en-US" sz="3200" dirty="0">
                <a:latin typeface="Calibri" panose="020F0502020204030204" pitchFamily="34" charset="0"/>
                <a:cs typeface="Calibri" panose="020F0502020204030204" pitchFamily="34" charset="0"/>
              </a:rPr>
              <a:t>TOOLS AND TECHNOLOGY</a:t>
            </a:r>
          </a:p>
        </p:txBody>
      </p:sp>
      <p:sp>
        <p:nvSpPr>
          <p:cNvPr id="3" name="Content Placeholder 2"/>
          <p:cNvSpPr>
            <a:spLocks noGrp="1"/>
          </p:cNvSpPr>
          <p:nvPr>
            <p:ph idx="1"/>
          </p:nvPr>
        </p:nvSpPr>
        <p:spPr>
          <a:xfrm>
            <a:off x="899592" y="1914035"/>
            <a:ext cx="7290055" cy="4536544"/>
          </a:xfrm>
        </p:spPr>
        <p:txBody>
          <a:bodyPr/>
          <a:lstStyle/>
          <a:p>
            <a:pPr marL="0" indent="0">
              <a:buNone/>
            </a:pPr>
            <a:r>
              <a:rPr lang="en-US" b="1" dirty="0">
                <a:latin typeface="Calibri" panose="020F0502020204030204" pitchFamily="34" charset="0"/>
                <a:cs typeface="Calibri" panose="020F0502020204030204" pitchFamily="34" charset="0"/>
              </a:rPr>
              <a:t>Software Requirements :</a:t>
            </a:r>
          </a:p>
          <a:p>
            <a:pPr marL="457200" indent="-457200">
              <a:buFont typeface="+mj-lt"/>
              <a:buAutoNum type="arabicPeriod"/>
            </a:pPr>
            <a:r>
              <a:rPr lang="en-US" dirty="0">
                <a:latin typeface="Calibri" panose="020F0502020204030204" pitchFamily="34" charset="0"/>
                <a:cs typeface="Calibri" panose="020F0502020204030204" pitchFamily="34" charset="0"/>
              </a:rPr>
              <a:t> Anaconda Navigator </a:t>
            </a:r>
          </a:p>
          <a:p>
            <a:pPr marL="457200" indent="-457200">
              <a:buFont typeface="+mj-lt"/>
              <a:buAutoNum type="arabicPeriod"/>
            </a:pPr>
            <a:r>
              <a:rPr lang="en-US" dirty="0">
                <a:latin typeface="Calibri" panose="020F0502020204030204" pitchFamily="34" charset="0"/>
                <a:cs typeface="Calibri" panose="020F0502020204030204" pitchFamily="34" charset="0"/>
              </a:rPr>
              <a:t> </a:t>
            </a:r>
            <a:r>
              <a:rPr lang="en-US" dirty="0" err="1">
                <a:latin typeface="Calibri" panose="020F0502020204030204" pitchFamily="34" charset="0"/>
                <a:cs typeface="Calibri" panose="020F0502020204030204" pitchFamily="34" charset="0"/>
              </a:rPr>
              <a:t>Jupyter</a:t>
            </a:r>
            <a:r>
              <a:rPr lang="en-US" dirty="0">
                <a:latin typeface="Calibri" panose="020F0502020204030204" pitchFamily="34" charset="0"/>
                <a:cs typeface="Calibri" panose="020F0502020204030204" pitchFamily="34" charset="0"/>
              </a:rPr>
              <a:t> Notebook (</a:t>
            </a:r>
            <a:r>
              <a:rPr lang="en-US" dirty="0"/>
              <a:t>Python 3.3 or greater, or Python 2.7)</a:t>
            </a:r>
            <a:endParaRPr lang="en-US" dirty="0">
              <a:latin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cs typeface="Calibri" panose="020F0502020204030204" pitchFamily="34" charset="0"/>
              </a:rPr>
              <a:t>Machine Learning Library :</a:t>
            </a:r>
          </a:p>
          <a:p>
            <a:pPr marL="457200" indent="-457200">
              <a:buFont typeface="+mj-lt"/>
              <a:buAutoNum type="arabicPeriod"/>
            </a:pPr>
            <a:r>
              <a:rPr lang="en-US" dirty="0" err="1">
                <a:latin typeface="Calibri" panose="020F0502020204030204" pitchFamily="34" charset="0"/>
                <a:cs typeface="Calibri" panose="020F0502020204030204" pitchFamily="34" charset="0"/>
              </a:rPr>
              <a:t>NumPy</a:t>
            </a:r>
            <a:r>
              <a:rPr lang="en-US" dirty="0">
                <a:latin typeface="Calibri" panose="020F0502020204030204" pitchFamily="34" charset="0"/>
                <a:cs typeface="Calibri" panose="020F0502020204030204" pitchFamily="34" charset="0"/>
              </a:rPr>
              <a:t> </a:t>
            </a:r>
          </a:p>
          <a:p>
            <a:pPr marL="457200" indent="-457200">
              <a:buFont typeface="+mj-lt"/>
              <a:buAutoNum type="arabicPeriod"/>
            </a:pPr>
            <a:r>
              <a:rPr lang="en-US" dirty="0" err="1">
                <a:latin typeface="Calibri" panose="020F0502020204030204" pitchFamily="34" charset="0"/>
                <a:cs typeface="Calibri" panose="020F0502020204030204" pitchFamily="34" charset="0"/>
              </a:rPr>
              <a:t>SciPy</a:t>
            </a:r>
            <a:r>
              <a:rPr lang="en-US" dirty="0">
                <a:latin typeface="Calibri" panose="020F0502020204030204" pitchFamily="34" charset="0"/>
                <a:cs typeface="Calibri" panose="020F0502020204030204" pitchFamily="34" charset="0"/>
              </a:rPr>
              <a:t> </a:t>
            </a:r>
          </a:p>
          <a:p>
            <a:pPr marL="457200" indent="-457200">
              <a:buFont typeface="+mj-lt"/>
              <a:buAutoNum type="arabicPeriod"/>
            </a:pPr>
            <a:r>
              <a:rPr lang="en-US" dirty="0">
                <a:latin typeface="Calibri" panose="020F0502020204030204" pitchFamily="34" charset="0"/>
                <a:cs typeface="Calibri" panose="020F0502020204030204" pitchFamily="34" charset="0"/>
              </a:rPr>
              <a:t>Pandas</a:t>
            </a:r>
          </a:p>
          <a:p>
            <a:pPr marL="457200" indent="-457200">
              <a:buFont typeface="+mj-lt"/>
              <a:buAutoNum type="arabicPeriod"/>
            </a:pPr>
            <a:r>
              <a:rPr lang="en-US" dirty="0" err="1">
                <a:latin typeface="Calibri" panose="020F0502020204030204" pitchFamily="34" charset="0"/>
                <a:cs typeface="Calibri" panose="020F0502020204030204" pitchFamily="34" charset="0"/>
              </a:rPr>
              <a:t>Matplotlib</a:t>
            </a:r>
            <a:r>
              <a:rPr lang="en-US" dirty="0">
                <a:latin typeface="Calibri" panose="020F0502020204030204" pitchFamily="34" charset="0"/>
                <a:cs typeface="Calibri" panose="020F0502020204030204" pitchFamily="34" charset="0"/>
              </a:rPr>
              <a:t>  </a:t>
            </a: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latin typeface="Calibri" panose="020F0502020204030204" pitchFamily="34" charset="0"/>
                <a:cs typeface="Calibri" panose="020F0502020204030204" pitchFamily="34" charset="0"/>
              </a:rPr>
              <a:t>Arima</a:t>
            </a:r>
            <a:r>
              <a:rPr lang="en-IN" dirty="0">
                <a:latin typeface="Calibri" panose="020F0502020204030204" pitchFamily="34" charset="0"/>
                <a:cs typeface="Calibri" panose="020F0502020204030204" pitchFamily="34" charset="0"/>
              </a:rPr>
              <a:t> model</a:t>
            </a:r>
            <a:r>
              <a:rPr lang="en-IN" baseline="30000" dirty="0">
                <a:latin typeface="Calibri" panose="020F0502020204030204" pitchFamily="34" charset="0"/>
                <a:cs typeface="Calibri" panose="020F0502020204030204" pitchFamily="34" charset="0"/>
              </a:rPr>
              <a:t>[11]</a:t>
            </a:r>
            <a:endParaRPr lang="en-IN" dirty="0"/>
          </a:p>
        </p:txBody>
      </p:sp>
      <p:sp>
        <p:nvSpPr>
          <p:cNvPr id="3" name="Content Placeholder 2"/>
          <p:cNvSpPr>
            <a:spLocks noGrp="1"/>
          </p:cNvSpPr>
          <p:nvPr>
            <p:ph idx="1"/>
          </p:nvPr>
        </p:nvSpPr>
        <p:spPr>
          <a:xfrm>
            <a:off x="768096" y="1988840"/>
            <a:ext cx="7290055" cy="4320520"/>
          </a:xfrm>
        </p:spPr>
        <p:txBody>
          <a:bodyPr>
            <a:normAutofit fontScale="92500" lnSpcReduction="20000"/>
          </a:bodyPr>
          <a:lstStyle/>
          <a:p>
            <a:pPr>
              <a:buFont typeface="Arial" panose="020B0604020202020204" pitchFamily="34" charset="0"/>
              <a:buChar char="•"/>
            </a:pPr>
            <a:r>
              <a:rPr lang="en-CA" altLang="en-US" dirty="0">
                <a:latin typeface="Calibri" panose="020F0502020204030204" pitchFamily="34" charset="0"/>
                <a:cs typeface="Calibri" panose="020F0502020204030204" pitchFamily="34" charset="0"/>
              </a:rPr>
              <a:t> </a:t>
            </a:r>
            <a:r>
              <a:rPr lang="en-CA" altLang="en-US" sz="2200" dirty="0">
                <a:latin typeface="Calibri" panose="020F0502020204030204" pitchFamily="34" charset="0"/>
                <a:cs typeface="Calibri" panose="020F0502020204030204" pitchFamily="34" charset="0"/>
              </a:rPr>
              <a:t>ARIMA, is a statistical analysis model that uses </a:t>
            </a:r>
            <a:r>
              <a:rPr lang="en-CA" altLang="en-US" sz="2200" b="1" dirty="0">
                <a:latin typeface="Calibri" panose="020F0502020204030204" pitchFamily="34" charset="0"/>
                <a:cs typeface="Calibri" panose="020F0502020204030204" pitchFamily="34" charset="0"/>
              </a:rPr>
              <a:t>time series</a:t>
            </a:r>
            <a:r>
              <a:rPr lang="en-CA" altLang="en-US" sz="2200" dirty="0">
                <a:latin typeface="Calibri" panose="020F0502020204030204" pitchFamily="34" charset="0"/>
                <a:cs typeface="Calibri" panose="020F0502020204030204" pitchFamily="34" charset="0"/>
              </a:rPr>
              <a:t> data to either better understand the data set or to </a:t>
            </a:r>
            <a:r>
              <a:rPr lang="en-CA" altLang="en-US" sz="2200" b="1" dirty="0">
                <a:latin typeface="Calibri" panose="020F0502020204030204" pitchFamily="34" charset="0"/>
                <a:cs typeface="Calibri" panose="020F0502020204030204" pitchFamily="34" charset="0"/>
              </a:rPr>
              <a:t>predict future trends</a:t>
            </a:r>
            <a:r>
              <a:rPr lang="en-CA" altLang="en-US" sz="2200" dirty="0">
                <a:latin typeface="Calibri" panose="020F0502020204030204" pitchFamily="34" charset="0"/>
                <a:cs typeface="Calibri" panose="020F0502020204030204" pitchFamily="34" charset="0"/>
              </a:rPr>
              <a:t>.</a:t>
            </a:r>
          </a:p>
          <a:p>
            <a:pPr>
              <a:buFont typeface="Arial" panose="020B0604020202020204" pitchFamily="34" charset="0"/>
              <a:buChar char="•"/>
            </a:pPr>
            <a:r>
              <a:rPr lang="en-IN" sz="2200" dirty="0">
                <a:latin typeface="Calibri" panose="020F0502020204030204" pitchFamily="34" charset="0"/>
                <a:cs typeface="Calibri" panose="020F0502020204030204" pitchFamily="34" charset="0"/>
              </a:rPr>
              <a:t> A </a:t>
            </a:r>
            <a:r>
              <a:rPr lang="en-IN" sz="2200" b="1" dirty="0">
                <a:latin typeface="Calibri" panose="020F0502020204030204" pitchFamily="34" charset="0"/>
                <a:cs typeface="Calibri" panose="020F0502020204030204" pitchFamily="34" charset="0"/>
              </a:rPr>
              <a:t>time series plot </a:t>
            </a:r>
            <a:r>
              <a:rPr lang="en-IN" sz="2200" dirty="0">
                <a:latin typeface="Calibri" panose="020F0502020204030204" pitchFamily="34" charset="0"/>
                <a:cs typeface="Calibri" panose="020F0502020204030204" pitchFamily="34" charset="0"/>
              </a:rPr>
              <a:t>is a graph that displays data collected in a time sequence from any process. The chart can be used to determine how the data is trending over time and if the data points are random or exhibit any pattern.</a:t>
            </a:r>
          </a:p>
          <a:p>
            <a:pPr>
              <a:buFont typeface="Arial" panose="020B0604020202020204" pitchFamily="34" charset="0"/>
              <a:buChar char="•"/>
            </a:pPr>
            <a:r>
              <a:rPr lang="en-IN" sz="2200" b="1" dirty="0">
                <a:latin typeface="Calibri" panose="020F0502020204030204" pitchFamily="34" charset="0"/>
                <a:cs typeface="Calibri" panose="020F0502020204030204" pitchFamily="34" charset="0"/>
              </a:rPr>
              <a:t> Components</a:t>
            </a:r>
            <a:r>
              <a:rPr lang="en-IN" sz="2200" dirty="0">
                <a:latin typeface="Calibri" panose="020F0502020204030204" pitchFamily="34" charset="0"/>
                <a:cs typeface="Calibri" panose="020F0502020204030204" pitchFamily="34" charset="0"/>
              </a:rPr>
              <a:t> of time series graph :</a:t>
            </a:r>
          </a:p>
          <a:p>
            <a:r>
              <a:rPr lang="en-IN" sz="2200" dirty="0">
                <a:latin typeface="Calibri" panose="020F0502020204030204" pitchFamily="34" charset="0"/>
                <a:cs typeface="Calibri" panose="020F0502020204030204" pitchFamily="34" charset="0"/>
              </a:rPr>
              <a:t>- </a:t>
            </a:r>
            <a:r>
              <a:rPr lang="en-IN" sz="2200" b="1" dirty="0">
                <a:latin typeface="Calibri" panose="020F0502020204030204" pitchFamily="34" charset="0"/>
                <a:cs typeface="Calibri" panose="020F0502020204030204" pitchFamily="34" charset="0"/>
              </a:rPr>
              <a:t>Secular trend</a:t>
            </a:r>
            <a:r>
              <a:rPr lang="en-IN" sz="2200" dirty="0">
                <a:latin typeface="Calibri" panose="020F0502020204030204" pitchFamily="34" charset="0"/>
                <a:cs typeface="Calibri" panose="020F0502020204030204" pitchFamily="34" charset="0"/>
              </a:rPr>
              <a:t>, which describe the movement along the term</a:t>
            </a:r>
          </a:p>
          <a:p>
            <a:r>
              <a:rPr lang="en-IN" sz="2200" dirty="0">
                <a:latin typeface="Calibri" panose="020F0502020204030204" pitchFamily="34" charset="0"/>
                <a:cs typeface="Calibri" panose="020F0502020204030204" pitchFamily="34" charset="0"/>
              </a:rPr>
              <a:t> - </a:t>
            </a:r>
            <a:r>
              <a:rPr lang="en-IN" sz="2200" b="1" dirty="0">
                <a:latin typeface="Calibri" panose="020F0502020204030204" pitchFamily="34" charset="0"/>
                <a:cs typeface="Calibri" panose="020F0502020204030204" pitchFamily="34" charset="0"/>
              </a:rPr>
              <a:t>Seasonal variations</a:t>
            </a:r>
            <a:r>
              <a:rPr lang="en-IN" sz="2200" dirty="0">
                <a:latin typeface="Calibri" panose="020F0502020204030204" pitchFamily="34" charset="0"/>
                <a:cs typeface="Calibri" panose="020F0502020204030204" pitchFamily="34" charset="0"/>
              </a:rPr>
              <a:t>, which represent seasonal changes</a:t>
            </a:r>
          </a:p>
          <a:p>
            <a:r>
              <a:rPr lang="en-IN" sz="2200" dirty="0">
                <a:latin typeface="Calibri" panose="020F0502020204030204" pitchFamily="34" charset="0"/>
                <a:cs typeface="Calibri" panose="020F0502020204030204" pitchFamily="34" charset="0"/>
              </a:rPr>
              <a:t>- </a:t>
            </a:r>
            <a:r>
              <a:rPr lang="en-IN" sz="2200" b="1" dirty="0">
                <a:latin typeface="Calibri" panose="020F0502020204030204" pitchFamily="34" charset="0"/>
                <a:cs typeface="Calibri" panose="020F0502020204030204" pitchFamily="34" charset="0"/>
              </a:rPr>
              <a:t>Cyclical fluctuations</a:t>
            </a:r>
            <a:r>
              <a:rPr lang="en-IN" sz="2200" dirty="0">
                <a:latin typeface="Calibri" panose="020F0502020204030204" pitchFamily="34" charset="0"/>
                <a:cs typeface="Calibri" panose="020F0502020204030204" pitchFamily="34" charset="0"/>
              </a:rPr>
              <a:t>, which correspond to periodical but not seasonal variations</a:t>
            </a:r>
          </a:p>
          <a:p>
            <a:r>
              <a:rPr lang="en-IN" sz="2200" dirty="0">
                <a:latin typeface="Calibri" panose="020F0502020204030204" pitchFamily="34" charset="0"/>
                <a:cs typeface="Calibri" panose="020F0502020204030204" pitchFamily="34" charset="0"/>
              </a:rPr>
              <a:t>- </a:t>
            </a:r>
            <a:r>
              <a:rPr lang="en-IN" sz="2200" b="1" dirty="0">
                <a:latin typeface="Calibri" panose="020F0502020204030204" pitchFamily="34" charset="0"/>
                <a:cs typeface="Calibri" panose="020F0502020204030204" pitchFamily="34" charset="0"/>
              </a:rPr>
              <a:t>Irregular variations</a:t>
            </a:r>
            <a:r>
              <a:rPr lang="en-IN" sz="2200" dirty="0">
                <a:latin typeface="Calibri" panose="020F0502020204030204" pitchFamily="34" charset="0"/>
                <a:cs typeface="Calibri" panose="020F0502020204030204" pitchFamily="34" charset="0"/>
              </a:rPr>
              <a:t>, which are other </a:t>
            </a:r>
            <a:r>
              <a:rPr lang="en-IN" sz="2200" dirty="0" err="1">
                <a:latin typeface="Calibri" panose="020F0502020204030204" pitchFamily="34" charset="0"/>
                <a:cs typeface="Calibri" panose="020F0502020204030204" pitchFamily="34" charset="0"/>
              </a:rPr>
              <a:t>nonrandom</a:t>
            </a:r>
            <a:r>
              <a:rPr lang="en-IN" sz="2200" dirty="0">
                <a:latin typeface="Calibri" panose="020F0502020204030204" pitchFamily="34" charset="0"/>
                <a:cs typeface="Calibri" panose="020F0502020204030204" pitchFamily="34" charset="0"/>
              </a:rPr>
              <a:t> sources of variations of series.</a:t>
            </a:r>
          </a:p>
          <a:p>
            <a:pPr>
              <a:buFont typeface="Arial" panose="020B0604020202020204" pitchFamily="34" charset="0"/>
              <a:buChar char="•"/>
            </a:pPr>
            <a:endParaRPr lang="en-CA" altLang="en-US" dirty="0">
              <a:latin typeface="Calibri" panose="020F0502020204030204" pitchFamily="34" charset="0"/>
              <a:cs typeface="Calibri" panose="020F0502020204030204" pitchFamily="34" charset="0"/>
            </a:endParaRPr>
          </a:p>
          <a:p>
            <a:endParaRPr lang="en-IN" dirty="0"/>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590960"/>
            <a:ext cx="7290054" cy="1499616"/>
          </a:xfrm>
        </p:spPr>
        <p:txBody>
          <a:bodyPr>
            <a:normAutofit/>
          </a:bodyPr>
          <a:lstStyle/>
          <a:p>
            <a:r>
              <a:rPr lang="en-IN" sz="3600" dirty="0">
                <a:latin typeface="Calibri" panose="020F0502020204030204" pitchFamily="34" charset="0"/>
                <a:cs typeface="Calibri" panose="020F0502020204030204" pitchFamily="34" charset="0"/>
              </a:rPr>
              <a:t>Comparing the R</a:t>
            </a:r>
            <a:r>
              <a:rPr lang="en-IN" sz="3600" baseline="30000" dirty="0">
                <a:latin typeface="Calibri" panose="020F0502020204030204" pitchFamily="34" charset="0"/>
                <a:cs typeface="Calibri" panose="020F0502020204030204" pitchFamily="34" charset="0"/>
              </a:rPr>
              <a:t>2</a:t>
            </a:r>
            <a:r>
              <a:rPr lang="en-IN" sz="3600" dirty="0">
                <a:latin typeface="Calibri" panose="020F0502020204030204" pitchFamily="34" charset="0"/>
                <a:cs typeface="Calibri" panose="020F0502020204030204" pitchFamily="34" charset="0"/>
              </a:rPr>
              <a:t> Value</a:t>
            </a: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10</a:t>
            </a:fld>
            <a:endParaRPr lang="en-US"/>
          </a:p>
        </p:txBody>
      </p:sp>
      <p:sp>
        <p:nvSpPr>
          <p:cNvPr id="6" name="Content Placeholder 5"/>
          <p:cNvSpPr>
            <a:spLocks noGrp="1"/>
          </p:cNvSpPr>
          <p:nvPr>
            <p:ph idx="1"/>
          </p:nvPr>
        </p:nvSpPr>
        <p:spPr>
          <a:xfrm>
            <a:off x="899592" y="1628800"/>
            <a:ext cx="7228408" cy="4896544"/>
          </a:xfrm>
        </p:spPr>
        <p:txBody>
          <a:bodyPr>
            <a:normAutofit/>
          </a:bodyPr>
          <a:lstStyle/>
          <a:p>
            <a:pPr marL="342900" lvl="1" indent="-342900">
              <a:spcBef>
                <a:spcPts val="1200"/>
              </a:spcBef>
              <a:spcAft>
                <a:spcPts val="200"/>
              </a:spcAft>
              <a:buSzPct val="100000"/>
              <a:buFont typeface="+mj-lt"/>
              <a:buAutoNum type="arabicPeriod"/>
            </a:pPr>
            <a:r>
              <a:rPr lang="en-US" sz="2000" dirty="0">
                <a:latin typeface="Calibri" panose="020F0502020204030204" pitchFamily="34" charset="0"/>
                <a:cs typeface="Calibri" panose="020F0502020204030204" pitchFamily="34" charset="0"/>
              </a:rPr>
              <a:t>XGBOOST Regression</a:t>
            </a:r>
          </a:p>
          <a:p>
            <a:pPr marL="342900" indent="-342900">
              <a:buFont typeface="+mj-lt"/>
              <a:buAutoNum type="arabicPeriod"/>
            </a:pPr>
            <a:endParaRPr lang="en-US" dirty="0">
              <a:latin typeface="Calibri" panose="020F0502020204030204" pitchFamily="34" charset="0"/>
              <a:cs typeface="Calibri" panose="020F0502020204030204" pitchFamily="34" charset="0"/>
            </a:endParaRPr>
          </a:p>
          <a:p>
            <a:pPr marL="342900" indent="-342900">
              <a:buFont typeface="+mj-lt"/>
              <a:buAutoNum type="arabicPeriod"/>
            </a:pPr>
            <a:endParaRPr lang="en-US" dirty="0">
              <a:latin typeface="Calibri" panose="020F0502020204030204" pitchFamily="34" charset="0"/>
              <a:cs typeface="Calibri" panose="020F0502020204030204" pitchFamily="34" charset="0"/>
            </a:endParaRPr>
          </a:p>
          <a:p>
            <a:pPr marL="342900" indent="-342900">
              <a:buFont typeface="+mj-lt"/>
              <a:buAutoNum type="arabicPeriod"/>
            </a:pPr>
            <a:endParaRPr lang="en-US" dirty="0">
              <a:latin typeface="Calibri" panose="020F0502020204030204" pitchFamily="34" charset="0"/>
              <a:cs typeface="Calibri" panose="020F0502020204030204" pitchFamily="34" charset="0"/>
            </a:endParaRPr>
          </a:p>
          <a:p>
            <a:pPr marL="342900" lvl="1" indent="-342900">
              <a:spcBef>
                <a:spcPts val="1200"/>
              </a:spcBef>
              <a:spcAft>
                <a:spcPts val="200"/>
              </a:spcAft>
              <a:buSzPct val="100000"/>
              <a:buFont typeface="+mj-lt"/>
              <a:buAutoNum type="arabicPeriod" startAt="2"/>
            </a:pPr>
            <a:r>
              <a:rPr lang="en-US" sz="2000" dirty="0">
                <a:latin typeface="Calibri" panose="020F0502020204030204" pitchFamily="34" charset="0"/>
                <a:cs typeface="Calibri" panose="020F0502020204030204" pitchFamily="34" charset="0"/>
              </a:rPr>
              <a:t>Linear Regression</a:t>
            </a:r>
          </a:p>
          <a:p>
            <a:pPr marL="0" lvl="1" indent="0">
              <a:spcBef>
                <a:spcPts val="1200"/>
              </a:spcBef>
              <a:spcAft>
                <a:spcPts val="200"/>
              </a:spcAft>
              <a:buSzPct val="100000"/>
              <a:buNone/>
            </a:pPr>
            <a:endParaRPr lang="en-US" sz="2000" dirty="0">
              <a:latin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cs typeface="Calibri" panose="020F0502020204030204" pitchFamily="34" charset="0"/>
            </a:endParaRPr>
          </a:p>
          <a:p>
            <a:pPr marL="342900" lvl="1" indent="-342900">
              <a:spcBef>
                <a:spcPts val="1200"/>
              </a:spcBef>
              <a:spcAft>
                <a:spcPts val="200"/>
              </a:spcAft>
              <a:buSzPct val="100000"/>
              <a:buFont typeface="+mj-lt"/>
              <a:buAutoNum type="arabicPeriod" startAt="3"/>
            </a:pPr>
            <a:r>
              <a:rPr lang="en-US" sz="2000" dirty="0">
                <a:latin typeface="Calibri" panose="020F0502020204030204" pitchFamily="34" charset="0"/>
                <a:cs typeface="Calibri" panose="020F0502020204030204" pitchFamily="34" charset="0"/>
              </a:rPr>
              <a:t>Random Forest</a:t>
            </a:r>
          </a:p>
          <a:p>
            <a:pPr marL="0" indent="0">
              <a:buNone/>
            </a:pPr>
            <a:endParaRPr lang="en-US" sz="1600" dirty="0">
              <a:latin typeface="Calibri" panose="020F0502020204030204" pitchFamily="34" charset="0"/>
              <a:cs typeface="Calibri" panose="020F0502020204030204" pitchFamily="34" charset="0"/>
            </a:endParaRPr>
          </a:p>
          <a:p>
            <a:pPr marL="0" indent="0">
              <a:buNone/>
            </a:pPr>
            <a:endParaRPr lang="en-US" sz="1600" dirty="0">
              <a:latin typeface="Calibri" panose="020F0502020204030204" pitchFamily="34" charset="0"/>
              <a:cs typeface="Calibri" panose="020F0502020204030204" pitchFamily="34" charset="0"/>
            </a:endParaRPr>
          </a:p>
        </p:txBody>
      </p:sp>
      <p:pic>
        <p:nvPicPr>
          <p:cNvPr id="16" name="Picture 15"/>
          <p:cNvPicPr/>
          <p:nvPr/>
        </p:nvPicPr>
        <p:blipFill>
          <a:blip r:embed="rId2"/>
          <a:stretch>
            <a:fillRect/>
          </a:stretch>
        </p:blipFill>
        <p:spPr>
          <a:xfrm>
            <a:off x="1763688" y="2034258"/>
            <a:ext cx="4854786" cy="1296144"/>
          </a:xfrm>
          <a:prstGeom prst="rect">
            <a:avLst/>
          </a:prstGeom>
        </p:spPr>
      </p:pic>
      <p:pic>
        <p:nvPicPr>
          <p:cNvPr id="1033" name="Picture 9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3849322"/>
            <a:ext cx="3384376" cy="97210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p:cNvPicPr/>
          <p:nvPr/>
        </p:nvPicPr>
        <p:blipFill>
          <a:blip r:embed="rId4"/>
          <a:stretch>
            <a:fillRect/>
          </a:stretch>
        </p:blipFill>
        <p:spPr>
          <a:xfrm>
            <a:off x="2051720" y="5599752"/>
            <a:ext cx="3024336" cy="10081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1340768"/>
            <a:ext cx="7344816" cy="4824536"/>
          </a:xfrm>
        </p:spPr>
        <p:txBody>
          <a:bodyPr>
            <a:normAutofit/>
          </a:bodyPr>
          <a:lstStyle/>
          <a:p>
            <a:pPr>
              <a:buNone/>
            </a:pPr>
            <a:endParaRPr lang="en-IN" b="1" dirty="0">
              <a:latin typeface="Calibri" panose="020F0502020204030204" pitchFamily="34" charset="0"/>
              <a:cs typeface="Calibri" panose="020F0502020204030204" pitchFamily="34" charset="0"/>
            </a:endParaRPr>
          </a:p>
          <a:p>
            <a:pPr marL="342900" lvl="1" indent="-342900">
              <a:spcBef>
                <a:spcPts val="1200"/>
              </a:spcBef>
              <a:spcAft>
                <a:spcPts val="200"/>
              </a:spcAft>
              <a:buSzPct val="100000"/>
              <a:buFont typeface="+mj-lt"/>
              <a:buAutoNum type="arabicPeriod" startAt="4"/>
            </a:pPr>
            <a:r>
              <a:rPr lang="en-US" sz="2000" dirty="0">
                <a:latin typeface="Calibri" panose="020F0502020204030204" pitchFamily="34" charset="0"/>
                <a:cs typeface="Calibri" panose="020F0502020204030204" pitchFamily="34" charset="0"/>
              </a:rPr>
              <a:t>ARIMA Model</a:t>
            </a:r>
          </a:p>
          <a:p>
            <a:pPr>
              <a:buNone/>
            </a:pPr>
            <a:endParaRPr lang="en-IN" b="1" dirty="0">
              <a:latin typeface="Calibri" panose="020F0502020204030204" pitchFamily="34" charset="0"/>
              <a:cs typeface="Calibri" panose="020F0502020204030204" pitchFamily="34" charset="0"/>
            </a:endParaRPr>
          </a:p>
          <a:p>
            <a:pPr>
              <a:buNone/>
            </a:pPr>
            <a:endParaRPr lang="en-IN" b="1" dirty="0">
              <a:latin typeface="Calibri" panose="020F0502020204030204" pitchFamily="34" charset="0"/>
              <a:cs typeface="Calibri" panose="020F0502020204030204" pitchFamily="34" charset="0"/>
            </a:endParaRPr>
          </a:p>
          <a:p>
            <a:pPr>
              <a:buNone/>
            </a:pPr>
            <a:endParaRPr lang="en-IN" b="1" dirty="0">
              <a:latin typeface="Calibri" panose="020F0502020204030204" pitchFamily="34" charset="0"/>
              <a:cs typeface="Calibri" panose="020F0502020204030204" pitchFamily="34" charset="0"/>
            </a:endParaRPr>
          </a:p>
          <a:p>
            <a:pPr>
              <a:buNone/>
            </a:pPr>
            <a:r>
              <a:rPr lang="en-IN" b="1" dirty="0">
                <a:latin typeface="Calibri" panose="020F0502020204030204" pitchFamily="34" charset="0"/>
                <a:cs typeface="Calibri" panose="020F0502020204030204" pitchFamily="34" charset="0"/>
              </a:rPr>
              <a:t>Observation from the previous implementations :</a:t>
            </a:r>
          </a:p>
          <a:p>
            <a:pPr lvl="0">
              <a:buFont typeface="Arial" panose="020B0604020202020204" pitchFamily="34" charset="0"/>
              <a:buChar char="•"/>
            </a:pPr>
            <a:r>
              <a:rPr lang="en-US" dirty="0">
                <a:latin typeface="Calibri" panose="020F0502020204030204" pitchFamily="34" charset="0"/>
                <a:cs typeface="Calibri" panose="020F0502020204030204" pitchFamily="34" charset="0"/>
              </a:rPr>
              <a:t> Here, the R2 value of ARIMA model is around 0.86, which is the highest.</a:t>
            </a:r>
          </a:p>
          <a:p>
            <a:pPr lvl="0">
              <a:buFont typeface="Arial" panose="020B0604020202020204" pitchFamily="34" charset="0"/>
              <a:buChar char="•"/>
            </a:pPr>
            <a:r>
              <a:rPr lang="en-US" dirty="0">
                <a:latin typeface="Calibri" panose="020F0502020204030204" pitchFamily="34" charset="0"/>
                <a:cs typeface="Calibri" panose="020F0502020204030204" pitchFamily="34" charset="0"/>
              </a:rPr>
              <a:t> Hence, ARIMA Model is most accurate out of all the three algorithms to work on the predictive analytics.</a:t>
            </a: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11</a:t>
            </a:fld>
            <a:endParaRPr lang="en-US"/>
          </a:p>
        </p:txBody>
      </p:sp>
      <p:pic>
        <p:nvPicPr>
          <p:cNvPr id="5" name="Picture 4"/>
          <p:cNvPicPr/>
          <p:nvPr/>
        </p:nvPicPr>
        <p:blipFill>
          <a:blip r:embed="rId2"/>
          <a:stretch>
            <a:fillRect/>
          </a:stretch>
        </p:blipFill>
        <p:spPr>
          <a:xfrm>
            <a:off x="1763688" y="2204864"/>
            <a:ext cx="2664296" cy="11521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641" y="764921"/>
            <a:ext cx="7290054" cy="1499616"/>
          </a:xfrm>
        </p:spPr>
        <p:txBody>
          <a:bodyPr>
            <a:normAutofit/>
          </a:bodyPr>
          <a:lstStyle/>
          <a:p>
            <a:r>
              <a:rPr lang="en-US" sz="3200" b="1" dirty="0">
                <a:latin typeface="Calibri" panose="020F0502020204030204" pitchFamily="34" charset="0"/>
                <a:cs typeface="Calibri" panose="020F0502020204030204" pitchFamily="34" charset="0"/>
                <a:sym typeface="+mn-ea"/>
              </a:rPr>
              <a:t>Data Set Description</a:t>
            </a:r>
            <a:r>
              <a:rPr lang="en-US" sz="3200" b="1" baseline="30000" dirty="0">
                <a:latin typeface="Calibri" panose="020F0502020204030204" pitchFamily="34" charset="0"/>
                <a:cs typeface="Calibri" panose="020F0502020204030204" pitchFamily="34" charset="0"/>
                <a:sym typeface="+mn-ea"/>
              </a:rPr>
              <a:t>[5]</a:t>
            </a:r>
            <a:endParaRPr lang="en-CA" altLang="en-US" sz="3200"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12</a:t>
            </a:fld>
            <a:endParaRPr lang="en-US"/>
          </a:p>
        </p:txBody>
      </p:sp>
      <p:graphicFrame>
        <p:nvGraphicFramePr>
          <p:cNvPr id="16" name="Content Placeholder 15"/>
          <p:cNvGraphicFramePr>
            <a:graphicFrameLocks noGrp="1"/>
          </p:cNvGraphicFramePr>
          <p:nvPr>
            <p:ph idx="1"/>
          </p:nvPr>
        </p:nvGraphicFramePr>
        <p:xfrm>
          <a:off x="554547" y="1844824"/>
          <a:ext cx="8320116" cy="4681220"/>
        </p:xfrm>
        <a:graphic>
          <a:graphicData uri="http://schemas.openxmlformats.org/drawingml/2006/table">
            <a:tbl>
              <a:tblPr firstRow="1" bandRow="1">
                <a:tableStyleId>{5C22544A-7EE6-4342-B048-85BDC9FD1C3A}</a:tableStyleId>
              </a:tblPr>
              <a:tblGrid>
                <a:gridCol w="2348015">
                  <a:extLst>
                    <a:ext uri="{9D8B030D-6E8A-4147-A177-3AD203B41FA5}">
                      <a16:colId xmlns:a16="http://schemas.microsoft.com/office/drawing/2014/main" val="20000"/>
                    </a:ext>
                  </a:extLst>
                </a:gridCol>
                <a:gridCol w="1702497">
                  <a:extLst>
                    <a:ext uri="{9D8B030D-6E8A-4147-A177-3AD203B41FA5}">
                      <a16:colId xmlns:a16="http://schemas.microsoft.com/office/drawing/2014/main" val="20001"/>
                    </a:ext>
                  </a:extLst>
                </a:gridCol>
                <a:gridCol w="4269604">
                  <a:extLst>
                    <a:ext uri="{9D8B030D-6E8A-4147-A177-3AD203B41FA5}">
                      <a16:colId xmlns:a16="http://schemas.microsoft.com/office/drawing/2014/main" val="20002"/>
                    </a:ext>
                  </a:extLst>
                </a:gridCol>
              </a:tblGrid>
              <a:tr h="361267">
                <a:tc>
                  <a:txBody>
                    <a:bodyPr/>
                    <a:lstStyle/>
                    <a:p>
                      <a:pPr>
                        <a:buNone/>
                      </a:pPr>
                      <a:r>
                        <a:rPr lang="en-CA" altLang="en-US" dirty="0">
                          <a:latin typeface="Calibri" panose="020F0502020204030204" pitchFamily="34" charset="0"/>
                          <a:cs typeface="Calibri" panose="020F0502020204030204" pitchFamily="34" charset="0"/>
                        </a:rPr>
                        <a:t>NAME</a:t>
                      </a:r>
                    </a:p>
                  </a:txBody>
                  <a:tcPr/>
                </a:tc>
                <a:tc>
                  <a:txBody>
                    <a:bodyPr/>
                    <a:lstStyle/>
                    <a:p>
                      <a:pPr>
                        <a:buNone/>
                      </a:pPr>
                      <a:r>
                        <a:rPr lang="en-CA" altLang="en-US">
                          <a:latin typeface="Calibri" panose="020F0502020204030204" pitchFamily="34" charset="0"/>
                          <a:cs typeface="Calibri" panose="020F0502020204030204" pitchFamily="34" charset="0"/>
                        </a:rPr>
                        <a:t>TYPE</a:t>
                      </a:r>
                    </a:p>
                  </a:txBody>
                  <a:tcPr/>
                </a:tc>
                <a:tc>
                  <a:txBody>
                    <a:bodyPr/>
                    <a:lstStyle/>
                    <a:p>
                      <a:pPr>
                        <a:buNone/>
                      </a:pPr>
                      <a:r>
                        <a:rPr lang="en-CA" altLang="en-US" dirty="0">
                          <a:latin typeface="Calibri" panose="020F0502020204030204" pitchFamily="34" charset="0"/>
                          <a:cs typeface="Calibri" panose="020F0502020204030204" pitchFamily="34" charset="0"/>
                        </a:rPr>
                        <a:t>DESCRIPTION</a:t>
                      </a:r>
                    </a:p>
                  </a:txBody>
                  <a:tcPr/>
                </a:tc>
                <a:extLst>
                  <a:ext uri="{0D108BD9-81ED-4DB2-BD59-A6C34878D82A}">
                    <a16:rowId xmlns:a16="http://schemas.microsoft.com/office/drawing/2014/main" val="10000"/>
                  </a:ext>
                </a:extLst>
              </a:tr>
              <a:tr h="301056">
                <a:tc>
                  <a:txBody>
                    <a:bodyPr/>
                    <a:lstStyle/>
                    <a:p>
                      <a:pPr>
                        <a:buNone/>
                      </a:pPr>
                      <a:r>
                        <a:rPr lang="en-CA" altLang="en-US" sz="1400">
                          <a:latin typeface="Calibri" panose="020F0502020204030204" pitchFamily="34" charset="0"/>
                          <a:cs typeface="Calibri" panose="020F0502020204030204" pitchFamily="34" charset="0"/>
                          <a:sym typeface="+mn-ea"/>
                        </a:rPr>
                        <a:t>Item_identifier</a:t>
                      </a:r>
                      <a:endParaRPr lang="en-CA" altLang="en-US" sz="1400">
                        <a:latin typeface="Calibri" panose="020F0502020204030204" pitchFamily="34" charset="0"/>
                        <a:cs typeface="Calibri" panose="020F0502020204030204" pitchFamily="34" charset="0"/>
                      </a:endParaRPr>
                    </a:p>
                  </a:txBody>
                  <a:tcPr/>
                </a:tc>
                <a:tc>
                  <a:txBody>
                    <a:bodyPr/>
                    <a:lstStyle/>
                    <a:p>
                      <a:pPr>
                        <a:buNone/>
                      </a:pPr>
                      <a:r>
                        <a:rPr lang="en-CA" altLang="en-US" sz="1400" b="0" dirty="0">
                          <a:latin typeface="Calibri" panose="020F0502020204030204" pitchFamily="34" charset="0"/>
                          <a:cs typeface="Calibri" panose="020F0502020204030204" pitchFamily="34" charset="0"/>
                        </a:rPr>
                        <a:t>Numeric</a:t>
                      </a:r>
                    </a:p>
                  </a:txBody>
                  <a:tcPr/>
                </a:tc>
                <a:tc>
                  <a:txBody>
                    <a:bodyPr/>
                    <a:lstStyle/>
                    <a:p>
                      <a:pPr>
                        <a:buNone/>
                      </a:pPr>
                      <a:r>
                        <a:rPr lang="en-IN" sz="1400" dirty="0">
                          <a:latin typeface="Calibri" panose="020F0502020204030204" pitchFamily="34" charset="0"/>
                          <a:cs typeface="Calibri" panose="020F0502020204030204" pitchFamily="34" charset="0"/>
                        </a:rPr>
                        <a:t>It is the unique product Id number. </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1"/>
                  </a:ext>
                </a:extLst>
              </a:tr>
              <a:tr h="301056">
                <a:tc>
                  <a:txBody>
                    <a:bodyPr/>
                    <a:lstStyle/>
                    <a:p>
                      <a:pPr>
                        <a:buNone/>
                      </a:pPr>
                      <a:r>
                        <a:rPr lang="en-US" sz="1400">
                          <a:solidFill>
                            <a:srgbClr val="000000"/>
                          </a:solidFill>
                          <a:latin typeface="Calibri" panose="020F0502020204030204" charset="-122"/>
                          <a:sym typeface="+mn-ea"/>
                        </a:rPr>
                        <a:t>Item_Weight</a:t>
                      </a:r>
                      <a:endParaRPr lang="en-CA" altLang="en-US" sz="1400">
                        <a:latin typeface="Calibri" panose="020F0502020204030204" pitchFamily="34" charset="0"/>
                        <a:cs typeface="Calibri" panose="020F0502020204030204" pitchFamily="34" charset="0"/>
                      </a:endParaRPr>
                    </a:p>
                  </a:txBody>
                  <a:tcPr/>
                </a:tc>
                <a:tc>
                  <a:txBody>
                    <a:bodyPr/>
                    <a:lstStyle/>
                    <a:p>
                      <a:pPr>
                        <a:buNone/>
                      </a:pPr>
                      <a:r>
                        <a:rPr lang="en-CA" altLang="en-US" sz="1400">
                          <a:latin typeface="Calibri" panose="020F0502020204030204" pitchFamily="34" charset="0"/>
                          <a:cs typeface="Calibri" panose="020F0502020204030204" pitchFamily="34" charset="0"/>
                          <a:sym typeface="+mn-ea"/>
                        </a:rPr>
                        <a:t>Numeric</a:t>
                      </a:r>
                      <a:endParaRPr lang="en-US" sz="1400"/>
                    </a:p>
                  </a:txBody>
                  <a:tcPr/>
                </a:tc>
                <a:tc>
                  <a:txBody>
                    <a:bodyPr/>
                    <a:lstStyle/>
                    <a:p>
                      <a:pPr>
                        <a:buNone/>
                      </a:pPr>
                      <a:r>
                        <a:rPr lang="en-IN" sz="1400" dirty="0">
                          <a:latin typeface="Calibri" panose="020F0502020204030204" pitchFamily="34" charset="0"/>
                          <a:cs typeface="Calibri" panose="020F0502020204030204" pitchFamily="34" charset="0"/>
                        </a:rPr>
                        <a:t>It will include the product's weight</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2"/>
                  </a:ext>
                </a:extLst>
              </a:tr>
              <a:tr h="303564">
                <a:tc>
                  <a:txBody>
                    <a:bodyPr/>
                    <a:lstStyle/>
                    <a:p>
                      <a:pPr indent="0">
                        <a:buNone/>
                      </a:pPr>
                      <a:r>
                        <a:rPr lang="en-US" sz="1400">
                          <a:solidFill>
                            <a:srgbClr val="000000"/>
                          </a:solidFill>
                          <a:latin typeface="Calibri" panose="020F0502020204030204" charset="-122"/>
                          <a:sym typeface="+mn-ea"/>
                        </a:rPr>
                        <a:t>Item_Fat_Content</a:t>
                      </a:r>
                      <a:endParaRPr lang="en-US" sz="1400" b="0">
                        <a:solidFill>
                          <a:srgbClr val="000000"/>
                        </a:solidFill>
                        <a:latin typeface="Calibri" panose="020F0502020204030204" charset="-122"/>
                      </a:endParaRP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rPr>
                        <a:t>categorical</a:t>
                      </a:r>
                    </a:p>
                  </a:txBody>
                  <a:tcPr/>
                </a:tc>
                <a:tc>
                  <a:txBody>
                    <a:bodyPr/>
                    <a:lstStyle/>
                    <a:p>
                      <a:pPr>
                        <a:buNone/>
                      </a:pPr>
                      <a:r>
                        <a:rPr lang="en-IN" sz="1400" dirty="0">
                          <a:latin typeface="Calibri" panose="020F0502020204030204" pitchFamily="34" charset="0"/>
                          <a:cs typeface="Calibri" panose="020F0502020204030204" pitchFamily="34" charset="0"/>
                        </a:rPr>
                        <a:t>It will mean whether the item is low in fat or not</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3"/>
                  </a:ext>
                </a:extLst>
              </a:tr>
              <a:tr h="511795">
                <a:tc>
                  <a:txBody>
                    <a:bodyPr/>
                    <a:lstStyle/>
                    <a:p>
                      <a:pPr indent="0">
                        <a:buNone/>
                      </a:pPr>
                      <a:r>
                        <a:rPr lang="en-US" sz="1400" dirty="0" err="1">
                          <a:solidFill>
                            <a:srgbClr val="000000"/>
                          </a:solidFill>
                          <a:latin typeface="Calibri" panose="020F0502020204030204" charset="-122"/>
                          <a:sym typeface="+mn-ea"/>
                        </a:rPr>
                        <a:t>Item_Visibility</a:t>
                      </a:r>
                      <a:endParaRPr lang="en-US" sz="1400" b="0" dirty="0">
                        <a:solidFill>
                          <a:srgbClr val="000000"/>
                        </a:solidFill>
                        <a:latin typeface="Calibri" panose="020F0502020204030204" charset="-122"/>
                      </a:endParaRP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Numeric</a:t>
                      </a:r>
                    </a:p>
                  </a:txBody>
                  <a:tcPr/>
                </a:tc>
                <a:tc>
                  <a:txBody>
                    <a:bodyPr/>
                    <a:lstStyle/>
                    <a:p>
                      <a:pPr>
                        <a:buNone/>
                      </a:pPr>
                      <a:r>
                        <a:rPr lang="en-IN" sz="1400" dirty="0">
                          <a:latin typeface="Calibri" panose="020F0502020204030204" pitchFamily="34" charset="0"/>
                          <a:cs typeface="Calibri" panose="020F0502020204030204" pitchFamily="34" charset="0"/>
                        </a:rPr>
                        <a:t>The percentage of the overall viewing area assigned to the particular item from all items in the shop.</a:t>
                      </a:r>
                      <a:endParaRPr lang="en-CA" altLang="en-US" sz="11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4"/>
                  </a:ext>
                </a:extLst>
              </a:tr>
              <a:tr h="303564">
                <a:tc>
                  <a:txBody>
                    <a:bodyPr/>
                    <a:lstStyle/>
                    <a:p>
                      <a:pPr indent="0">
                        <a:buNone/>
                      </a:pPr>
                      <a:r>
                        <a:rPr lang="en-US" sz="1400">
                          <a:solidFill>
                            <a:srgbClr val="000000"/>
                          </a:solidFill>
                          <a:latin typeface="Calibri" panose="020F0502020204030204" charset="-122"/>
                          <a:sym typeface="+mn-ea"/>
                        </a:rPr>
                        <a:t>Item_Type</a:t>
                      </a:r>
                      <a:endParaRPr lang="en-US" sz="1400" b="0">
                        <a:solidFill>
                          <a:srgbClr val="000000"/>
                        </a:solidFill>
                        <a:latin typeface="Calibri" panose="020F0502020204030204" charset="-122"/>
                      </a:endParaRP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categorical</a:t>
                      </a:r>
                      <a:endParaRPr lang="en-US" sz="1400"/>
                    </a:p>
                  </a:txBody>
                  <a:tcPr/>
                </a:tc>
                <a:tc>
                  <a:txBody>
                    <a:bodyPr/>
                    <a:lstStyle/>
                    <a:p>
                      <a:pPr>
                        <a:buNone/>
                      </a:pPr>
                      <a:r>
                        <a:rPr lang="en-IN" sz="1400" dirty="0">
                          <a:latin typeface="Calibri" panose="020F0502020204030204" pitchFamily="34" charset="0"/>
                          <a:cs typeface="Calibri" panose="020F0502020204030204" pitchFamily="34" charset="0"/>
                        </a:rPr>
                        <a:t>To which group does the commodity belong</a:t>
                      </a:r>
                      <a:endParaRPr lang="en-CA" altLang="en-US" sz="11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5"/>
                  </a:ext>
                </a:extLst>
              </a:tr>
              <a:tr h="303564">
                <a:tc>
                  <a:txBody>
                    <a:bodyPr/>
                    <a:lstStyle/>
                    <a:p>
                      <a:pPr indent="0">
                        <a:buNone/>
                      </a:pPr>
                      <a:r>
                        <a:rPr lang="en-US" sz="1400">
                          <a:solidFill>
                            <a:srgbClr val="000000"/>
                          </a:solidFill>
                          <a:latin typeface="Calibri" panose="020F0502020204030204" charset="-122"/>
                          <a:sym typeface="+mn-ea"/>
                        </a:rPr>
                        <a:t>Item_MRP</a:t>
                      </a:r>
                      <a:endParaRPr lang="en-US" sz="1400" b="0">
                        <a:solidFill>
                          <a:srgbClr val="000000"/>
                        </a:solidFill>
                        <a:latin typeface="Calibri" panose="020F0502020204030204" charset="-122"/>
                      </a:endParaRP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Numeric</a:t>
                      </a:r>
                      <a:endParaRPr lang="en-US" sz="1400"/>
                    </a:p>
                  </a:txBody>
                  <a:tcPr/>
                </a:tc>
                <a:tc>
                  <a:txBody>
                    <a:bodyPr/>
                    <a:lstStyle/>
                    <a:p>
                      <a:pPr>
                        <a:buNone/>
                      </a:pPr>
                      <a:r>
                        <a:rPr lang="en-IN" sz="1400" dirty="0">
                          <a:latin typeface="Calibri" panose="020F0502020204030204" pitchFamily="34" charset="0"/>
                          <a:cs typeface="Calibri" panose="020F0502020204030204" pitchFamily="34" charset="0"/>
                        </a:rPr>
                        <a:t>The product's price list </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6"/>
                  </a:ext>
                </a:extLst>
              </a:tr>
              <a:tr h="303564">
                <a:tc>
                  <a:txBody>
                    <a:bodyPr/>
                    <a:lstStyle/>
                    <a:p>
                      <a:pPr indent="0">
                        <a:buNone/>
                      </a:pPr>
                      <a:r>
                        <a:rPr lang="en-US" sz="1400" b="0">
                          <a:solidFill>
                            <a:srgbClr val="000000"/>
                          </a:solidFill>
                          <a:latin typeface="Calibri" panose="020F0502020204030204" charset="-122"/>
                        </a:rPr>
                        <a:t>Outlet_Identifier</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Numeric</a:t>
                      </a:r>
                    </a:p>
                  </a:txBody>
                  <a:tcPr/>
                </a:tc>
                <a:tc>
                  <a:txBody>
                    <a:bodyPr/>
                    <a:lstStyle/>
                    <a:p>
                      <a:pPr>
                        <a:buNone/>
                      </a:pPr>
                      <a:r>
                        <a:rPr lang="en-CA" altLang="en-US" sz="1400" dirty="0">
                          <a:latin typeface="Calibri" panose="020F0502020204030204" pitchFamily="34" charset="0"/>
                          <a:cs typeface="Calibri" panose="020F0502020204030204" pitchFamily="34" charset="0"/>
                        </a:rPr>
                        <a:t>unique store ID</a:t>
                      </a:r>
                    </a:p>
                  </a:txBody>
                  <a:tcPr/>
                </a:tc>
                <a:extLst>
                  <a:ext uri="{0D108BD9-81ED-4DB2-BD59-A6C34878D82A}">
                    <a16:rowId xmlns:a16="http://schemas.microsoft.com/office/drawing/2014/main" val="10007"/>
                  </a:ext>
                </a:extLst>
              </a:tr>
              <a:tr h="303564">
                <a:tc>
                  <a:txBody>
                    <a:bodyPr/>
                    <a:lstStyle/>
                    <a:p>
                      <a:pPr indent="0">
                        <a:buNone/>
                      </a:pPr>
                      <a:r>
                        <a:rPr lang="en-US" sz="1400" b="0">
                          <a:solidFill>
                            <a:srgbClr val="000000"/>
                          </a:solidFill>
                          <a:latin typeface="Calibri" panose="020F0502020204030204" charset="-122"/>
                        </a:rPr>
                        <a:t>Outlet_Establishment_Year</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Numeric</a:t>
                      </a:r>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The year that the shop first opened</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8"/>
                  </a:ext>
                </a:extLst>
              </a:tr>
              <a:tr h="303564">
                <a:tc>
                  <a:txBody>
                    <a:bodyPr/>
                    <a:lstStyle/>
                    <a:p>
                      <a:pPr indent="0">
                        <a:buNone/>
                      </a:pPr>
                      <a:r>
                        <a:rPr lang="en-US" sz="1400" b="0">
                          <a:solidFill>
                            <a:srgbClr val="000000"/>
                          </a:solidFill>
                          <a:latin typeface="Calibri" panose="020F0502020204030204" charset="-122"/>
                        </a:rPr>
                        <a:t>Outlet_Size</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categorical</a:t>
                      </a:r>
                      <a:endParaRPr lang="en-US" sz="1400"/>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The amount of ground space that the store occupies</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9"/>
                  </a:ext>
                </a:extLst>
              </a:tr>
              <a:tr h="303564">
                <a:tc>
                  <a:txBody>
                    <a:bodyPr/>
                    <a:lstStyle/>
                    <a:p>
                      <a:pPr indent="0">
                        <a:buNone/>
                      </a:pPr>
                      <a:r>
                        <a:rPr lang="en-US" sz="1400" b="0">
                          <a:solidFill>
                            <a:srgbClr val="000000"/>
                          </a:solidFill>
                          <a:latin typeface="Calibri" panose="020F0502020204030204" charset="-122"/>
                        </a:rPr>
                        <a:t>Outlet_Location_Type</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categorical</a:t>
                      </a:r>
                      <a:endParaRPr lang="en-US" sz="1400"/>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The type of city in which the store is located</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10"/>
                  </a:ext>
                </a:extLst>
              </a:tr>
              <a:tr h="303564">
                <a:tc>
                  <a:txBody>
                    <a:bodyPr/>
                    <a:lstStyle/>
                    <a:p>
                      <a:pPr indent="0">
                        <a:buNone/>
                      </a:pPr>
                      <a:r>
                        <a:rPr lang="en-US" sz="1400" b="0">
                          <a:solidFill>
                            <a:srgbClr val="000000"/>
                          </a:solidFill>
                          <a:latin typeface="Calibri" panose="020F0502020204030204" charset="-122"/>
                        </a:rPr>
                        <a:t>Outlet_Type</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categorical</a:t>
                      </a:r>
                      <a:endParaRPr lang="en-US" sz="1400"/>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Whether he outlet is just a grocery or some sort of supermarket</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11"/>
                  </a:ext>
                </a:extLst>
              </a:tr>
              <a:tr h="511795">
                <a:tc>
                  <a:txBody>
                    <a:bodyPr/>
                    <a:lstStyle/>
                    <a:p>
                      <a:pPr indent="0">
                        <a:buNone/>
                      </a:pPr>
                      <a:r>
                        <a:rPr lang="en-US" sz="1400" b="0">
                          <a:solidFill>
                            <a:srgbClr val="000000"/>
                          </a:solidFill>
                          <a:latin typeface="Calibri" panose="020F0502020204030204" charset="-122"/>
                        </a:rPr>
                        <a:t>Item_Outlet_Sales</a:t>
                      </a:r>
                    </a:p>
                  </a:txBody>
                  <a:tcPr marL="90170" marR="90170" marT="46990" marB="46990" anchor="ctr"/>
                </a:tc>
                <a:tc>
                  <a:txBody>
                    <a:bodyPr/>
                    <a:lstStyle/>
                    <a:p>
                      <a:pPr>
                        <a:buNone/>
                      </a:pPr>
                      <a:r>
                        <a:rPr lang="en-CA" altLang="en-US" sz="1400">
                          <a:latin typeface="Calibri" panose="020F0502020204030204" pitchFamily="34" charset="0"/>
                          <a:cs typeface="Calibri" panose="020F0502020204030204" pitchFamily="34" charset="0"/>
                          <a:sym typeface="+mn-ea"/>
                        </a:rPr>
                        <a:t>Numeric</a:t>
                      </a:r>
                    </a:p>
                  </a:txBody>
                  <a:tcPr/>
                </a:tc>
                <a:tc>
                  <a:txBody>
                    <a:bodyPr/>
                    <a:lstStyle/>
                    <a:p>
                      <a:pPr>
                        <a:buNone/>
                      </a:pPr>
                      <a:r>
                        <a:rPr lang="en-IN" sz="1400" kern="1200" dirty="0">
                          <a:solidFill>
                            <a:schemeClr val="dk1"/>
                          </a:solidFill>
                          <a:latin typeface="Calibri" panose="020F0502020204030204" pitchFamily="34" charset="0"/>
                          <a:ea typeface="+mn-ea"/>
                          <a:cs typeface="Calibri" panose="020F0502020204030204" pitchFamily="34" charset="0"/>
                        </a:rPr>
                        <a:t>Product sales at that specific store. This is the outcome variable that has to be forecast.</a:t>
                      </a:r>
                      <a:endParaRPr lang="en-CA" altLang="en-US" sz="1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1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Calibri" panose="020F0502020204030204" pitchFamily="34" charset="0"/>
                <a:cs typeface="Calibri" panose="020F0502020204030204" pitchFamily="34" charset="0"/>
              </a:rPr>
              <a:t>Project Flow Chart</a:t>
            </a: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13</a:t>
            </a:fld>
            <a:endParaRPr lang="en-US"/>
          </a:p>
        </p:txBody>
      </p:sp>
      <p:pic>
        <p:nvPicPr>
          <p:cNvPr id="5" name="Content Placeholder 4" descr="C:\Users\patel\OneDrive\Desktop\WhatsApp Image 2023-03-10 at 11.37.06.jpgWhatsApp Image 2023-03-10 at 11.37.06"/>
          <p:cNvPicPr>
            <a:picLocks noGrp="1"/>
          </p:cNvPicPr>
          <p:nvPr>
            <p:ph idx="1"/>
          </p:nvPr>
        </p:nvPicPr>
        <p:blipFill>
          <a:blip r:embed="rId2"/>
          <a:srcRect/>
          <a:stretch>
            <a:fillRect/>
          </a:stretch>
        </p:blipFill>
        <p:spPr>
          <a:xfrm>
            <a:off x="1079884" y="1628800"/>
            <a:ext cx="6480175" cy="43204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05" y="981075"/>
            <a:ext cx="7330440" cy="1499870"/>
          </a:xfrm>
        </p:spPr>
        <p:txBody>
          <a:bodyPr vert="horz" lIns="91440" tIns="45720" rIns="91440" bIns="45720" rtlCol="0" anchor="ctr">
            <a:noAutofit/>
          </a:bodyPr>
          <a:lstStyle/>
          <a:p>
            <a:r>
              <a:rPr lang="en-US" sz="3200" dirty="0">
                <a:latin typeface="Calibri" panose="020F0502020204030204"/>
                <a:ea typeface="+mj-lt"/>
                <a:cs typeface="+mj-lt"/>
              </a:rPr>
              <a:t>Implementation with Results</a:t>
            </a:r>
            <a:r>
              <a:rPr lang="en-US" sz="3200" baseline="30000" dirty="0">
                <a:latin typeface="Calibri" panose="020F0502020204030204"/>
                <a:ea typeface="+mj-lt"/>
                <a:cs typeface="+mj-lt"/>
              </a:rPr>
              <a:t>[17]</a:t>
            </a:r>
            <a:br>
              <a:rPr lang="en-US" sz="3600" baseline="30000" dirty="0">
                <a:latin typeface="Calibri" panose="020F0502020204030204"/>
                <a:ea typeface="+mj-lt"/>
                <a:cs typeface="+mj-lt"/>
              </a:rPr>
            </a:br>
            <a:endParaRPr lang="en-US" sz="3600" dirty="0">
              <a:latin typeface="Calibri" panose="020F0502020204030204"/>
              <a:ea typeface="+mj-lt"/>
              <a:cs typeface="+mj-lt"/>
            </a:endParaRPr>
          </a:p>
        </p:txBody>
      </p:sp>
      <p:pic>
        <p:nvPicPr>
          <p:cNvPr id="5" name="Picture 5" descr="Table&#10;&#10;Description automatically generated"/>
          <p:cNvPicPr>
            <a:picLocks noGrp="1" noChangeAspect="1"/>
          </p:cNvPicPr>
          <p:nvPr>
            <p:ph idx="1"/>
          </p:nvPr>
        </p:nvPicPr>
        <p:blipFill>
          <a:blip r:embed="rId2"/>
          <a:stretch>
            <a:fillRect/>
          </a:stretch>
        </p:blipFill>
        <p:spPr>
          <a:xfrm>
            <a:off x="1403648" y="1772816"/>
            <a:ext cx="4872034" cy="2848558"/>
          </a:xfrm>
        </p:spPr>
      </p:pic>
      <p:sp>
        <p:nvSpPr>
          <p:cNvPr id="4" name="Slide Number Placeholder 3"/>
          <p:cNvSpPr>
            <a:spLocks noGrp="1"/>
          </p:cNvSpPr>
          <p:nvPr>
            <p:ph type="sldNum" sz="quarter" idx="12"/>
          </p:nvPr>
        </p:nvSpPr>
        <p:spPr/>
        <p:txBody>
          <a:bodyPr/>
          <a:lstStyle/>
          <a:p>
            <a:pPr>
              <a:defRPr/>
            </a:pPr>
            <a:fld id="{76D8818E-4975-47DF-8CD0-6344EFD914C9}" type="slidenum">
              <a:rPr lang="en-US" smtClean="0"/>
              <a:t>14</a:t>
            </a:fld>
            <a:endParaRPr lang="en-US"/>
          </a:p>
        </p:txBody>
      </p:sp>
      <p:sp>
        <p:nvSpPr>
          <p:cNvPr id="6" name="TextBox 5"/>
          <p:cNvSpPr txBox="1"/>
          <p:nvPr/>
        </p:nvSpPr>
        <p:spPr>
          <a:xfrm>
            <a:off x="827584" y="4621374"/>
            <a:ext cx="7891240" cy="2215991"/>
          </a:xfrm>
          <a:prstGeom prst="rect">
            <a:avLst/>
          </a:prstGeom>
          <a:noFill/>
        </p:spPr>
        <p:txBody>
          <a:bodyPr wrap="square" rtlCol="0">
            <a:spAutoFit/>
          </a:bodyPr>
          <a:lstStyle/>
          <a:p>
            <a:pPr>
              <a:buFont typeface="Arial" panose="020B0604020202020204" pitchFamily="34" charset="0"/>
              <a:buChar char="•"/>
            </a:pPr>
            <a:r>
              <a:rPr lang="en-IN" sz="2000" dirty="0">
                <a:latin typeface="Calibri" panose="020F0502020204030204" pitchFamily="34" charset="0"/>
                <a:cs typeface="Calibri" panose="020F0502020204030204" pitchFamily="34" charset="0"/>
              </a:rPr>
              <a:t>According to the gathered data, it is gathered information from 10 stores spread across several areas, each of which sold 1559 distinct products.</a:t>
            </a:r>
          </a:p>
          <a:p>
            <a:pPr>
              <a:buFont typeface="Arial" panose="020B0604020202020204" pitchFamily="34" charset="0"/>
              <a:buChar char="•"/>
            </a:pPr>
            <a:endParaRPr lang="en-IN"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en-IN" sz="2000" dirty="0">
                <a:latin typeface="Calibri" panose="020F0502020204030204" pitchFamily="34" charset="0"/>
                <a:cs typeface="Calibri" panose="020F0502020204030204" pitchFamily="34" charset="0"/>
              </a:rPr>
              <a:t>Various factors important by statistical means like mean, standard deviation, median, count of values and maximum value etc. are shown in Fig.4 for numerical variables of our dataset.</a:t>
            </a:r>
          </a:p>
          <a:p>
            <a:pPr>
              <a:buFont typeface="Arial" panose="020B0604020202020204" pitchFamily="34" charset="0"/>
              <a:buChar char="•"/>
            </a:pPr>
            <a:endParaRPr lang="en-IN" dirty="0">
              <a:latin typeface="Calibri" panose="020F0502020204030204" pitchFamily="34" charset="0"/>
              <a:cs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251" y="764921"/>
            <a:ext cx="7290054" cy="1499616"/>
          </a:xfrm>
        </p:spPr>
        <p:txBody>
          <a:bodyPr>
            <a:normAutofit/>
          </a:bodyPr>
          <a:lstStyle/>
          <a:p>
            <a:r>
              <a:rPr lang="en-US" sz="3600" dirty="0">
                <a:latin typeface="Calibri" panose="020F0502020204030204"/>
                <a:cs typeface="Calibri" panose="020F0502020204030204"/>
              </a:rPr>
              <a:t>Implementation</a:t>
            </a:r>
            <a:r>
              <a:rPr lang="en-US" sz="3600" baseline="30000" dirty="0">
                <a:latin typeface="Calibri" panose="020F0502020204030204"/>
                <a:cs typeface="Calibri" panose="020F0502020204030204"/>
              </a:rPr>
              <a:t>[17]</a:t>
            </a:r>
          </a:p>
        </p:txBody>
      </p:sp>
      <p:pic>
        <p:nvPicPr>
          <p:cNvPr id="6" name="Picture 6" descr="Graphical user interface, text, application&#10;&#10;Description automatically generated"/>
          <p:cNvPicPr>
            <a:picLocks noGrp="1" noChangeAspect="1"/>
          </p:cNvPicPr>
          <p:nvPr>
            <p:ph idx="1"/>
          </p:nvPr>
        </p:nvPicPr>
        <p:blipFill rotWithShape="1">
          <a:blip r:embed="rId2"/>
          <a:srcRect l="10059" t="37193" r="50888" b="16140"/>
          <a:stretch>
            <a:fillRect/>
          </a:stretch>
        </p:blipFill>
        <p:spPr>
          <a:xfrm>
            <a:off x="4022565" y="1564791"/>
            <a:ext cx="5121435" cy="3429024"/>
          </a:xfrm>
        </p:spPr>
      </p:pic>
      <p:sp>
        <p:nvSpPr>
          <p:cNvPr id="4" name="Slide Number Placeholder 3"/>
          <p:cNvSpPr>
            <a:spLocks noGrp="1"/>
          </p:cNvSpPr>
          <p:nvPr>
            <p:ph type="sldNum" sz="quarter" idx="12"/>
          </p:nvPr>
        </p:nvSpPr>
        <p:spPr/>
        <p:txBody>
          <a:bodyPr/>
          <a:lstStyle/>
          <a:p>
            <a:pPr>
              <a:defRPr/>
            </a:pPr>
            <a:fld id="{76D8818E-4975-47DF-8CD0-6344EFD914C9}" type="slidenum">
              <a:rPr lang="en-US" smtClean="0"/>
              <a:t>15</a:t>
            </a:fld>
            <a:endParaRPr lang="en-US"/>
          </a:p>
        </p:txBody>
      </p:sp>
      <p:sp>
        <p:nvSpPr>
          <p:cNvPr id="7" name="TextBox 6"/>
          <p:cNvSpPr txBox="1"/>
          <p:nvPr/>
        </p:nvSpPr>
        <p:spPr>
          <a:xfrm>
            <a:off x="539552" y="1779687"/>
            <a:ext cx="4248472" cy="5062924"/>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just"/>
            <a:r>
              <a:rPr lang="en-IN" sz="2000" b="1" dirty="0">
                <a:latin typeface="Calibri" panose="020F0502020204030204" pitchFamily="34" charset="0"/>
                <a:cs typeface="Calibri" panose="020F0502020204030204" pitchFamily="34" charset="0"/>
              </a:rPr>
              <a:t>Some observations:</a:t>
            </a:r>
            <a:endParaRPr lang="en-IN" sz="2000" dirty="0">
              <a:latin typeface="Calibri" panose="020F0502020204030204" pitchFamily="34" charset="0"/>
              <a:cs typeface="Calibri" panose="020F0502020204030204" pitchFamily="34" charset="0"/>
            </a:endParaRPr>
          </a:p>
          <a:p>
            <a:pPr algn="just">
              <a:buFont typeface="Arial" panose="020B0604020202020204" pitchFamily="34" charset="0"/>
              <a:buChar char="•"/>
            </a:pPr>
            <a:r>
              <a:rPr lang="en-IN" sz="1900" dirty="0" err="1">
                <a:latin typeface="Calibri" panose="020F0502020204030204" pitchFamily="34" charset="0"/>
                <a:cs typeface="Calibri" panose="020F0502020204030204" pitchFamily="34" charset="0"/>
              </a:rPr>
              <a:t>Item_Visibility</a:t>
            </a:r>
            <a:r>
              <a:rPr lang="en-IN" sz="1900" dirty="0">
                <a:latin typeface="Calibri" panose="020F0502020204030204" pitchFamily="34" charset="0"/>
                <a:cs typeface="Calibri" panose="020F0502020204030204" pitchFamily="34" charset="0"/>
              </a:rPr>
              <a:t> has a min value of zero. This makes no practical sense because when a product is being sold in a store, the visibility cannot be 0.</a:t>
            </a:r>
          </a:p>
          <a:p>
            <a:pPr algn="just">
              <a:buFont typeface="Arial" panose="020B0604020202020204" pitchFamily="34" charset="0"/>
              <a:buChar char="•"/>
            </a:pPr>
            <a:endParaRPr lang="en-IN" sz="1900" dirty="0">
              <a:latin typeface="Calibri" panose="020F0502020204030204" pitchFamily="34" charset="0"/>
              <a:cs typeface="Calibri" panose="020F0502020204030204" pitchFamily="34" charset="0"/>
            </a:endParaRPr>
          </a:p>
          <a:p>
            <a:pPr>
              <a:buFont typeface="Arial" panose="020B0604020202020204" pitchFamily="34" charset="0"/>
              <a:buChar char="•"/>
            </a:pPr>
            <a:r>
              <a:rPr lang="en-IN" sz="1900" dirty="0" err="1">
                <a:latin typeface="Calibri" panose="020F0502020204030204" pitchFamily="34" charset="0"/>
                <a:cs typeface="Calibri" panose="020F0502020204030204" pitchFamily="34" charset="0"/>
              </a:rPr>
              <a:t>Outlet_Establishment_Years</a:t>
            </a:r>
            <a:r>
              <a:rPr lang="en-IN" sz="1900" dirty="0">
                <a:latin typeface="Calibri" panose="020F0502020204030204" pitchFamily="34" charset="0"/>
                <a:cs typeface="Calibri" panose="020F0502020204030204" pitchFamily="34" charset="0"/>
              </a:rPr>
              <a:t> vary from 1985 to 2009. The values might not be apt in this form. Rather, if we can convert them to how old the particular store is, it should have a better impact on sales.</a:t>
            </a:r>
          </a:p>
          <a:p>
            <a:pPr>
              <a:buFont typeface="Arial" panose="020B0604020202020204" pitchFamily="34" charset="0"/>
              <a:buChar char="•"/>
            </a:pPr>
            <a:endParaRPr lang="en-IN" sz="1900" dirty="0">
              <a:latin typeface="Calibri" panose="020F0502020204030204" pitchFamily="34" charset="0"/>
              <a:cs typeface="Calibri" panose="020F0502020204030204" pitchFamily="34" charset="0"/>
            </a:endParaRPr>
          </a:p>
          <a:p>
            <a:pPr algn="just">
              <a:buFont typeface="Arial" panose="020B0604020202020204" pitchFamily="34" charset="0"/>
              <a:buChar char="•"/>
            </a:pPr>
            <a:r>
              <a:rPr lang="en-IN" sz="1900" dirty="0">
                <a:latin typeface="Calibri" panose="020F0502020204030204" pitchFamily="34" charset="0"/>
                <a:cs typeface="Calibri" panose="020F0502020204030204" pitchFamily="34" charset="0"/>
              </a:rPr>
              <a:t>The lower ‘count’ of </a:t>
            </a:r>
            <a:r>
              <a:rPr lang="en-IN" sz="1900" dirty="0" err="1">
                <a:latin typeface="Calibri" panose="020F0502020204030204" pitchFamily="34" charset="0"/>
                <a:cs typeface="Calibri" panose="020F0502020204030204" pitchFamily="34" charset="0"/>
              </a:rPr>
              <a:t>Item_Weight</a:t>
            </a:r>
            <a:r>
              <a:rPr lang="en-IN" sz="1900" dirty="0">
                <a:latin typeface="Calibri" panose="020F0502020204030204" pitchFamily="34" charset="0"/>
                <a:cs typeface="Calibri" panose="020F0502020204030204" pitchFamily="34" charset="0"/>
              </a:rPr>
              <a:t> and </a:t>
            </a:r>
            <a:r>
              <a:rPr lang="en-IN" sz="1900" dirty="0" err="1">
                <a:latin typeface="Calibri" panose="020F0502020204030204" pitchFamily="34" charset="0"/>
                <a:cs typeface="Calibri" panose="020F0502020204030204" pitchFamily="34" charset="0"/>
              </a:rPr>
              <a:t>Outlet_Size</a:t>
            </a:r>
            <a:r>
              <a:rPr lang="en-IN" sz="1900" dirty="0">
                <a:latin typeface="Calibri" panose="020F0502020204030204" pitchFamily="34" charset="0"/>
                <a:cs typeface="Calibri" panose="020F0502020204030204" pitchFamily="34" charset="0"/>
              </a:rPr>
              <a:t> confirms the findings from the missing value check.</a:t>
            </a:r>
          </a:p>
          <a:p>
            <a:pPr algn="just"/>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1196752"/>
            <a:ext cx="7992888" cy="5040560"/>
          </a:xfrm>
        </p:spPr>
        <p:txBody>
          <a:bodyPr>
            <a:normAutofit/>
          </a:bodyPr>
          <a:lstStyle/>
          <a:p>
            <a:r>
              <a:rPr lang="en-US" b="1" dirty="0">
                <a:latin typeface="Calibri" panose="020F0502020204030204" pitchFamily="34" charset="0"/>
                <a:cs typeface="Calibri" panose="020F0502020204030204" pitchFamily="34" charset="0"/>
              </a:rPr>
              <a:t>Results of ARIMA Model and Time Series Graph :</a:t>
            </a:r>
          </a:p>
          <a:p>
            <a:endParaRPr lang="en-US" sz="1800"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16</a:t>
            </a:fld>
            <a:endParaRPr lang="en-US"/>
          </a:p>
        </p:txBody>
      </p:sp>
      <p:pic>
        <p:nvPicPr>
          <p:cNvPr id="5" name="Picture 4"/>
          <p:cNvPicPr/>
          <p:nvPr/>
        </p:nvPicPr>
        <p:blipFill>
          <a:blip r:embed="rId2"/>
          <a:stretch>
            <a:fillRect/>
          </a:stretch>
        </p:blipFill>
        <p:spPr>
          <a:xfrm>
            <a:off x="2195736" y="1495863"/>
            <a:ext cx="4176464" cy="2293177"/>
          </a:xfrm>
          <a:prstGeom prst="rect">
            <a:avLst/>
          </a:prstGeom>
        </p:spPr>
      </p:pic>
      <p:sp>
        <p:nvSpPr>
          <p:cNvPr id="6" name="Rectangle 5"/>
          <p:cNvSpPr/>
          <p:nvPr/>
        </p:nvSpPr>
        <p:spPr>
          <a:xfrm>
            <a:off x="291821" y="3703633"/>
            <a:ext cx="8384635" cy="3844450"/>
          </a:xfrm>
          <a:prstGeom prst="rect">
            <a:avLst/>
          </a:prstGeom>
        </p:spPr>
        <p:txBody>
          <a:bodyPr wrap="square">
            <a:spAutoFit/>
          </a:bodyPr>
          <a:lstStyle/>
          <a:p>
            <a:pPr marL="285750" marR="635" lvl="0" indent="-285750" algn="just" fontAlgn="base">
              <a:lnSpc>
                <a:spcPct val="104000"/>
              </a:lnSpc>
              <a:spcBef>
                <a:spcPts val="0"/>
              </a:spcBef>
              <a:spcAft>
                <a:spcPts val="1060"/>
              </a:spcAft>
              <a:buClr>
                <a:srgbClr val="000000"/>
              </a:buClr>
              <a:buSzPts val="1450"/>
              <a:buFont typeface="Arial" panose="020B0604020202020204" pitchFamily="34" charset="0"/>
              <a:buChar char="•"/>
            </a:pPr>
            <a:r>
              <a:rPr lang="en-US" dirty="0">
                <a:solidFill>
                  <a:srgbClr val="000000"/>
                </a:solidFill>
                <a:uFill>
                  <a:solidFill>
                    <a:srgbClr val="000000"/>
                  </a:solidFill>
                </a:uFill>
                <a:latin typeface="Calibri" panose="020F0502020204030204" pitchFamily="34" charset="0"/>
                <a:ea typeface="Calibri" panose="020F0502020204030204" pitchFamily="34" charset="0"/>
                <a:cs typeface="Calibri" panose="020F0502020204030204" pitchFamily="34" charset="0"/>
              </a:rPr>
              <a:t>In order to construct a sales prediction model, we have applied the most efficient way of predicting future sales at large supermarkets, which sell a wide variety of products, including dairy products. But there are 2 axes to consider while making the forecast: sales years and sales through retail outlets, respectively. To begin making the final graph prediction, we needed to include the years we were predicting for.</a:t>
            </a:r>
          </a:p>
          <a:p>
            <a:pPr marL="285750" marR="635" lvl="0" indent="-285750" algn="just" fontAlgn="base">
              <a:lnSpc>
                <a:spcPct val="104000"/>
              </a:lnSpc>
              <a:spcBef>
                <a:spcPts val="0"/>
              </a:spcBef>
              <a:spcAft>
                <a:spcPts val="1060"/>
              </a:spcAft>
              <a:buClr>
                <a:srgbClr val="000000"/>
              </a:buClr>
              <a:buSzPts val="1450"/>
              <a:buFont typeface="Arial" panose="020B0604020202020204" pitchFamily="34" charset="0"/>
              <a:buChar char="•"/>
            </a:pPr>
            <a:r>
              <a:rPr lang="en-US" dirty="0">
                <a:solidFill>
                  <a:srgbClr val="000000"/>
                </a:solidFill>
                <a:uFill>
                  <a:solidFill>
                    <a:srgbClr val="000000"/>
                  </a:solidFill>
                </a:uFill>
                <a:latin typeface="Calibri" panose="020F0502020204030204" pitchFamily="34" charset="0"/>
                <a:ea typeface="Calibri" panose="020F0502020204030204" pitchFamily="34" charset="0"/>
                <a:cs typeface="Calibri" panose="020F0502020204030204" pitchFamily="34" charset="0"/>
              </a:rPr>
              <a:t>For example, the image shows that we predicted sales between </a:t>
            </a:r>
            <a:r>
              <a:rPr lang="en-US" dirty="0">
                <a:solidFill>
                  <a:srgbClr val="000000"/>
                </a:solidFill>
                <a:latin typeface="Calibri" panose="020F0502020204030204" pitchFamily="34" charset="0"/>
                <a:ea typeface="Calibri" panose="020F0502020204030204" pitchFamily="34" charset="0"/>
              </a:rPr>
              <a:t>2022 and 2024, so we must adjust the mathematical calculation (which we had placed at 730) so that it fits within the graph. Therefore, our model allows us to forecast product sales in </a:t>
            </a:r>
            <a:r>
              <a:rPr lang="en-US" dirty="0">
                <a:latin typeface="Calibri" panose="020F0502020204030204" pitchFamily="34" charset="0"/>
                <a:cs typeface="Calibri" panose="020F0502020204030204" pitchFamily="34" charset="0"/>
              </a:rPr>
              <a:t>accordance with the years managed by configuring the computation.</a:t>
            </a:r>
          </a:p>
          <a:p>
            <a:br>
              <a:rPr lang="en-US" sz="1900" dirty="0"/>
            </a:br>
            <a:r>
              <a:rPr lang="en-US" sz="1900" dirty="0">
                <a:solidFill>
                  <a:srgbClr val="000000"/>
                </a:solidFill>
                <a:latin typeface="Calibri" panose="020F0502020204030204" pitchFamily="34" charset="0"/>
                <a:ea typeface="Calibri" panose="020F0502020204030204" pitchFamily="34" charset="0"/>
              </a:rPr>
              <a:t>.</a:t>
            </a:r>
            <a:br>
              <a:rPr lang="en-US" sz="1900" dirty="0">
                <a:solidFill>
                  <a:srgbClr val="000000"/>
                </a:solidFill>
                <a:latin typeface="Calibri" panose="020F0502020204030204" pitchFamily="34" charset="0"/>
                <a:ea typeface="Calibri" panose="020F0502020204030204" pitchFamily="34" charset="0"/>
              </a:rPr>
            </a:b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641" y="692531"/>
            <a:ext cx="7290054" cy="1499616"/>
          </a:xfrm>
        </p:spPr>
        <p:txBody>
          <a:bodyPr>
            <a:normAutofit/>
          </a:bodyPr>
          <a:lstStyle/>
          <a:p>
            <a:r>
              <a:rPr lang="en-IN" sz="3600" dirty="0">
                <a:latin typeface="Calibri" panose="020F0502020204030204" pitchFamily="34" charset="0"/>
                <a:cs typeface="Calibri" panose="020F0502020204030204" pitchFamily="34" charset="0"/>
              </a:rPr>
              <a:t>Exploratory Data Analysis</a:t>
            </a:r>
            <a:r>
              <a:rPr lang="en-US" sz="3600" baseline="30000" dirty="0">
                <a:latin typeface="Calibri" panose="020F0502020204030204" pitchFamily="34" charset="0"/>
                <a:ea typeface="+mj-lt"/>
                <a:cs typeface="Calibri" panose="020F0502020204030204" pitchFamily="34" charset="0"/>
              </a:rPr>
              <a:t>[5]</a:t>
            </a:r>
            <a:endParaRPr lang="en-US" sz="3600" baseline="30000"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17</a:t>
            </a:fld>
            <a:endParaRPr lang="en-US"/>
          </a:p>
        </p:txBody>
      </p:sp>
      <p:sp>
        <p:nvSpPr>
          <p:cNvPr id="6" name="Content Placeholder 5"/>
          <p:cNvSpPr>
            <a:spLocks noGrp="1"/>
          </p:cNvSpPr>
          <p:nvPr>
            <p:ph idx="1"/>
          </p:nvPr>
        </p:nvSpPr>
        <p:spPr>
          <a:xfrm>
            <a:off x="768096" y="1988840"/>
            <a:ext cx="7290055" cy="4320520"/>
          </a:xfrm>
        </p:spPr>
        <p:txBody>
          <a:bodyPr/>
          <a:lstStyle/>
          <a:p>
            <a:pPr marL="457200" lvl="0" indent="-457200" algn="just">
              <a:buNone/>
            </a:pPr>
            <a:r>
              <a:rPr lang="en-IN" dirty="0">
                <a:latin typeface="Calibri" panose="020F0502020204030204" pitchFamily="34" charset="0"/>
                <a:cs typeface="Calibri" panose="020F0502020204030204" pitchFamily="34" charset="0"/>
              </a:rPr>
              <a:t>1. 	</a:t>
            </a:r>
            <a:r>
              <a:rPr lang="en-IN" dirty="0" err="1">
                <a:latin typeface="Calibri" panose="020F0502020204030204" pitchFamily="34" charset="0"/>
                <a:cs typeface="Calibri" panose="020F0502020204030204" pitchFamily="34" charset="0"/>
              </a:rPr>
              <a:t>Item_Weight</a:t>
            </a:r>
            <a:r>
              <a:rPr lang="en-IN" dirty="0">
                <a:latin typeface="Calibri" panose="020F0502020204030204" pitchFamily="34" charset="0"/>
                <a:cs typeface="Calibri" panose="020F0502020204030204" pitchFamily="34" charset="0"/>
              </a:rPr>
              <a:t> : Mean is greater(greater than 0.3) because missing values are filled in using the mean and the majority of the items have values of 0, indicating that there is not enough data for those items.</a:t>
            </a:r>
          </a:p>
        </p:txBody>
      </p:sp>
      <p:pic>
        <p:nvPicPr>
          <p:cNvPr id="1027" name="Picture 3" descr="Screenshot (400)"/>
          <p:cNvPicPr>
            <a:picLocks noChangeAspect="1" noChangeArrowheads="1"/>
          </p:cNvPicPr>
          <p:nvPr/>
        </p:nvPicPr>
        <p:blipFill>
          <a:blip r:embed="rId2"/>
          <a:srcRect l="10297" t="33611" r="49609" b="21667"/>
          <a:stretch>
            <a:fillRect/>
          </a:stretch>
        </p:blipFill>
        <p:spPr bwMode="auto">
          <a:xfrm>
            <a:off x="2000232" y="3357562"/>
            <a:ext cx="5143536" cy="3222352"/>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251" y="764921"/>
            <a:ext cx="6675393" cy="663815"/>
          </a:xfrm>
        </p:spPr>
        <p:txBody>
          <a:bodyPr>
            <a:normAutofit/>
          </a:bodyPr>
          <a:lstStyle/>
          <a:p>
            <a:r>
              <a:rPr lang="en-US" sz="3600" baseline="30000" dirty="0">
                <a:latin typeface="Calibri" panose="020F0502020204030204"/>
                <a:cs typeface="Calibri" panose="020F0502020204030204"/>
              </a:rPr>
              <a:t>  </a:t>
            </a: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18</a:t>
            </a:fld>
            <a:endParaRPr lang="en-US"/>
          </a:p>
        </p:txBody>
      </p:sp>
      <p:sp>
        <p:nvSpPr>
          <p:cNvPr id="6" name="Content Placeholder 5"/>
          <p:cNvSpPr>
            <a:spLocks noGrp="1"/>
          </p:cNvSpPr>
          <p:nvPr>
            <p:ph idx="1"/>
          </p:nvPr>
        </p:nvSpPr>
        <p:spPr>
          <a:xfrm>
            <a:off x="785786" y="1571612"/>
            <a:ext cx="7272365" cy="4737748"/>
          </a:xfrm>
        </p:spPr>
        <p:txBody>
          <a:bodyPr/>
          <a:lstStyle/>
          <a:p>
            <a:pPr marL="457200" lvl="0" indent="-457200">
              <a:buNone/>
            </a:pPr>
            <a:r>
              <a:rPr lang="en-IN" dirty="0">
                <a:latin typeface="Calibri" panose="020F0502020204030204" pitchFamily="34" charset="0"/>
                <a:cs typeface="Calibri" panose="020F0502020204030204" pitchFamily="34" charset="0"/>
              </a:rPr>
              <a:t>2. 	</a:t>
            </a:r>
            <a:r>
              <a:rPr lang="en-IN" dirty="0" err="1">
                <a:latin typeface="Calibri" panose="020F0502020204030204" pitchFamily="34" charset="0"/>
                <a:cs typeface="Calibri" panose="020F0502020204030204" pitchFamily="34" charset="0"/>
              </a:rPr>
              <a:t>Item_Visibility</a:t>
            </a:r>
            <a:r>
              <a:rPr lang="en-IN" dirty="0">
                <a:latin typeface="Calibri" panose="020F0502020204030204" pitchFamily="34" charset="0"/>
                <a:cs typeface="Calibri" panose="020F0502020204030204" pitchFamily="34" charset="0"/>
              </a:rPr>
              <a:t> : Left-skewed values are noted, and in order to prevent zeros, we filled all of the zeros with the mean, causing the peak to be shown at the mean. </a:t>
            </a:r>
          </a:p>
          <a:p>
            <a:endParaRPr lang="en-IN" dirty="0">
              <a:latin typeface="Calibri" panose="020F0502020204030204" pitchFamily="34" charset="0"/>
              <a:cs typeface="Calibri" panose="020F0502020204030204" pitchFamily="34" charset="0"/>
            </a:endParaRPr>
          </a:p>
        </p:txBody>
      </p:sp>
      <p:pic>
        <p:nvPicPr>
          <p:cNvPr id="2050" name="Picture 2" descr="Screenshot (401)"/>
          <p:cNvPicPr>
            <a:picLocks noChangeAspect="1" noChangeArrowheads="1"/>
          </p:cNvPicPr>
          <p:nvPr/>
        </p:nvPicPr>
        <p:blipFill>
          <a:blip r:embed="rId2"/>
          <a:srcRect l="9984" t="39093" r="46490" b="15907"/>
          <a:stretch>
            <a:fillRect/>
          </a:stretch>
        </p:blipFill>
        <p:spPr bwMode="auto">
          <a:xfrm>
            <a:off x="1714480" y="2786058"/>
            <a:ext cx="5781754" cy="3357586"/>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5875606" cy="486330"/>
          </a:xfrm>
        </p:spPr>
        <p:txBody>
          <a:bodyPr>
            <a:normAutofit fontScale="90000"/>
          </a:bodyPr>
          <a:lstStyle/>
          <a:p>
            <a:r>
              <a:rPr lang="en-IN" dirty="0"/>
              <a:t>   </a:t>
            </a:r>
          </a:p>
        </p:txBody>
      </p:sp>
      <p:sp>
        <p:nvSpPr>
          <p:cNvPr id="3" name="Content Placeholder 2"/>
          <p:cNvSpPr>
            <a:spLocks noGrp="1"/>
          </p:cNvSpPr>
          <p:nvPr>
            <p:ph idx="1"/>
          </p:nvPr>
        </p:nvSpPr>
        <p:spPr>
          <a:xfrm>
            <a:off x="785786" y="1428736"/>
            <a:ext cx="7272365" cy="4880624"/>
          </a:xfrm>
        </p:spPr>
        <p:txBody>
          <a:bodyPr/>
          <a:lstStyle/>
          <a:p>
            <a:pPr marL="457200" lvl="0" indent="-457200">
              <a:buNone/>
            </a:pPr>
            <a:r>
              <a:rPr lang="en-IN" dirty="0">
                <a:latin typeface="Calibri" panose="020F0502020204030204" pitchFamily="34" charset="0"/>
                <a:cs typeface="Calibri" panose="020F0502020204030204" pitchFamily="34" charset="0"/>
              </a:rPr>
              <a:t>3. 	</a:t>
            </a:r>
            <a:r>
              <a:rPr lang="en-IN" dirty="0" err="1">
                <a:latin typeface="Calibri" panose="020F0502020204030204" pitchFamily="34" charset="0"/>
                <a:cs typeface="Calibri" panose="020F0502020204030204" pitchFamily="34" charset="0"/>
              </a:rPr>
              <a:t>Outlet_Establishment_Year</a:t>
            </a:r>
            <a:r>
              <a:rPr lang="en-IN" dirty="0">
                <a:latin typeface="Calibri" panose="020F0502020204030204" pitchFamily="34" charset="0"/>
                <a:cs typeface="Calibri" panose="020F0502020204030204" pitchFamily="34" charset="0"/>
              </a:rPr>
              <a:t> : With the exception of one, which had more openings in 1985, all of the outlets were established in an equal proportion.</a:t>
            </a:r>
          </a:p>
          <a:p>
            <a:endParaRPr lang="en-IN"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19</a:t>
            </a:fld>
            <a:endParaRPr lang="en-US"/>
          </a:p>
        </p:txBody>
      </p:sp>
      <p:pic>
        <p:nvPicPr>
          <p:cNvPr id="3074" name="Picture 2" descr="Screenshot (406)"/>
          <p:cNvPicPr>
            <a:picLocks noChangeAspect="1" noChangeArrowheads="1"/>
          </p:cNvPicPr>
          <p:nvPr/>
        </p:nvPicPr>
        <p:blipFill>
          <a:blip r:embed="rId2"/>
          <a:srcRect l="9828" t="33592" r="47581" b="20296"/>
          <a:stretch>
            <a:fillRect/>
          </a:stretch>
        </p:blipFill>
        <p:spPr bwMode="auto">
          <a:xfrm>
            <a:off x="1714480" y="2714620"/>
            <a:ext cx="5758074" cy="3500462"/>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6089920" cy="414892"/>
          </a:xfrm>
        </p:spPr>
        <p:txBody>
          <a:bodyPr>
            <a:normAutofit fontScale="90000"/>
          </a:bodyPr>
          <a:lstStyle/>
          <a:p>
            <a:r>
              <a:rPr lang="en-IN" dirty="0"/>
              <a:t>  </a:t>
            </a:r>
          </a:p>
        </p:txBody>
      </p:sp>
      <p:sp>
        <p:nvSpPr>
          <p:cNvPr id="3" name="Content Placeholder 2"/>
          <p:cNvSpPr>
            <a:spLocks noGrp="1"/>
          </p:cNvSpPr>
          <p:nvPr>
            <p:ph idx="1"/>
          </p:nvPr>
        </p:nvSpPr>
        <p:spPr>
          <a:xfrm>
            <a:off x="785786" y="1500174"/>
            <a:ext cx="7272365" cy="4809186"/>
          </a:xfrm>
        </p:spPr>
        <p:txBody>
          <a:bodyPr/>
          <a:lstStyle/>
          <a:p>
            <a:pPr marL="457200" lvl="0" indent="-457200">
              <a:buNone/>
            </a:pPr>
            <a:r>
              <a:rPr lang="en-IN" dirty="0">
                <a:latin typeface="Calibri" panose="020F0502020204030204" pitchFamily="34" charset="0"/>
                <a:cs typeface="Calibri" panose="020F0502020204030204" pitchFamily="34" charset="0"/>
              </a:rPr>
              <a:t>4. 	</a:t>
            </a:r>
            <a:r>
              <a:rPr lang="en-IN" dirty="0" err="1">
                <a:latin typeface="Calibri" panose="020F0502020204030204" pitchFamily="34" charset="0"/>
                <a:cs typeface="Calibri" panose="020F0502020204030204" pitchFamily="34" charset="0"/>
              </a:rPr>
              <a:t>Item_Fat_Content</a:t>
            </a:r>
            <a:r>
              <a:rPr lang="en-IN" dirty="0">
                <a:latin typeface="Calibri" panose="020F0502020204030204" pitchFamily="34" charset="0"/>
                <a:cs typeface="Calibri" panose="020F0502020204030204" pitchFamily="34" charset="0"/>
              </a:rPr>
              <a:t> : The majority of items are low-fat, and just a small number are non-edible.</a:t>
            </a:r>
          </a:p>
          <a:p>
            <a:endParaRPr lang="en-IN"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20</a:t>
            </a:fld>
            <a:endParaRPr lang="en-US"/>
          </a:p>
        </p:txBody>
      </p:sp>
      <p:pic>
        <p:nvPicPr>
          <p:cNvPr id="4098" name="Picture 2" descr="Screenshot (404)"/>
          <p:cNvPicPr>
            <a:picLocks noChangeAspect="1" noChangeArrowheads="1"/>
          </p:cNvPicPr>
          <p:nvPr/>
        </p:nvPicPr>
        <p:blipFill>
          <a:blip r:embed="rId2"/>
          <a:srcRect l="9673" t="31371" r="45554" b="22797"/>
          <a:stretch>
            <a:fillRect/>
          </a:stretch>
        </p:blipFill>
        <p:spPr bwMode="auto">
          <a:xfrm>
            <a:off x="1500166" y="2571744"/>
            <a:ext cx="6464159" cy="3714776"/>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986" y="1050882"/>
            <a:ext cx="8348386" cy="737617"/>
          </a:xfrm>
        </p:spPr>
        <p:txBody>
          <a:bodyPr>
            <a:noAutofit/>
          </a:bodyPr>
          <a:lstStyle/>
          <a:p>
            <a:r>
              <a:rPr lang="en-US" sz="3200" dirty="0">
                <a:latin typeface="Calibri" panose="020F0502020204030204"/>
                <a:cs typeface="Calibri" panose="020F0502020204030204"/>
              </a:rPr>
              <a:t>Correlation between target and features</a:t>
            </a:r>
            <a:r>
              <a:rPr lang="en-US" sz="3200" baseline="30000" dirty="0">
                <a:latin typeface="Calibri" panose="020F0502020204030204"/>
                <a:cs typeface="Calibri" panose="020F0502020204030204"/>
              </a:rPr>
              <a:t>[17]</a:t>
            </a:r>
            <a:endParaRPr lang="en-US" sz="3200" baseline="30000">
              <a:latin typeface="Calibri" panose="020F0502020204030204"/>
              <a:cs typeface="Calibri" panose="020F0502020204030204"/>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21</a:t>
            </a:fld>
            <a:endParaRPr lang="en-US"/>
          </a:p>
        </p:txBody>
      </p:sp>
      <p:pic>
        <p:nvPicPr>
          <p:cNvPr id="5122" name="Picture 2" descr="Screenshot (410)"/>
          <p:cNvPicPr>
            <a:picLocks noChangeAspect="1" noChangeArrowheads="1"/>
          </p:cNvPicPr>
          <p:nvPr/>
        </p:nvPicPr>
        <p:blipFill>
          <a:blip r:embed="rId2"/>
          <a:srcRect l="10452" t="34174" r="40874" b="5574"/>
          <a:stretch>
            <a:fillRect/>
          </a:stretch>
        </p:blipFill>
        <p:spPr bwMode="auto">
          <a:xfrm>
            <a:off x="1214414" y="2071678"/>
            <a:ext cx="6370507" cy="4429156"/>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8161622" cy="1499616"/>
          </a:xfrm>
        </p:spPr>
        <p:txBody>
          <a:bodyPr>
            <a:normAutofit/>
          </a:bodyPr>
          <a:lstStyle/>
          <a:p>
            <a:r>
              <a:rPr lang="en-IN" sz="3200" dirty="0">
                <a:latin typeface="Calibri" panose="020F0502020204030204" pitchFamily="34" charset="0"/>
                <a:cs typeface="Calibri" panose="020F0502020204030204" pitchFamily="34" charset="0"/>
              </a:rPr>
              <a:t>Observations from the heating map:</a:t>
            </a:r>
          </a:p>
        </p:txBody>
      </p:sp>
      <p:sp>
        <p:nvSpPr>
          <p:cNvPr id="3" name="Content Placeholder 2"/>
          <p:cNvSpPr>
            <a:spLocks noGrp="1"/>
          </p:cNvSpPr>
          <p:nvPr>
            <p:ph idx="1"/>
          </p:nvPr>
        </p:nvSpPr>
        <p:spPr/>
        <p:txBody>
          <a:bodyPr/>
          <a:lstStyle/>
          <a:p>
            <a:pPr lvl="0">
              <a:buFont typeface="Arial" panose="020B0604020202020204" pitchFamily="34" charset="0"/>
              <a:buChar char="•"/>
            </a:pPr>
            <a:r>
              <a:rPr lang="en-IN" dirty="0">
                <a:latin typeface="Calibri" panose="020F0502020204030204" pitchFamily="34" charset="0"/>
                <a:cs typeface="Calibri" panose="020F0502020204030204" pitchFamily="34" charset="0"/>
              </a:rPr>
              <a:t> It appears that </a:t>
            </a:r>
            <a:r>
              <a:rPr lang="en-IN" dirty="0" err="1">
                <a:latin typeface="Calibri" panose="020F0502020204030204" pitchFamily="34" charset="0"/>
                <a:cs typeface="Calibri" panose="020F0502020204030204" pitchFamily="34" charset="0"/>
              </a:rPr>
              <a:t>item_Weight</a:t>
            </a:r>
            <a:r>
              <a:rPr lang="en-IN" dirty="0">
                <a:latin typeface="Calibri" panose="020F0502020204030204" pitchFamily="34" charset="0"/>
                <a:cs typeface="Calibri" panose="020F0502020204030204" pitchFamily="34" charset="0"/>
              </a:rPr>
              <a:t> and </a:t>
            </a:r>
            <a:r>
              <a:rPr lang="en-IN" dirty="0" err="1">
                <a:latin typeface="Calibri" panose="020F0502020204030204" pitchFamily="34" charset="0"/>
                <a:cs typeface="Calibri" panose="020F0502020204030204" pitchFamily="34" charset="0"/>
              </a:rPr>
              <a:t>Outlet_Establishment_Year</a:t>
            </a:r>
            <a:r>
              <a:rPr lang="en-IN" dirty="0">
                <a:latin typeface="Calibri" panose="020F0502020204030204" pitchFamily="34" charset="0"/>
                <a:cs typeface="Calibri" panose="020F0502020204030204" pitchFamily="34" charset="0"/>
              </a:rPr>
              <a:t> are fairly correlated.</a:t>
            </a:r>
          </a:p>
          <a:p>
            <a:pPr lvl="0">
              <a:buFont typeface="Arial" panose="020B0604020202020204" pitchFamily="34" charset="0"/>
              <a:buChar char="•"/>
            </a:pPr>
            <a:r>
              <a:rPr lang="en-IN" dirty="0">
                <a:latin typeface="Calibri" panose="020F0502020204030204" pitchFamily="34" charset="0"/>
                <a:cs typeface="Calibri" panose="020F0502020204030204" pitchFamily="34" charset="0"/>
              </a:rPr>
              <a:t> As we created the </a:t>
            </a:r>
            <a:r>
              <a:rPr lang="en-IN" dirty="0" err="1">
                <a:latin typeface="Calibri" panose="020F0502020204030204" pitchFamily="34" charset="0"/>
                <a:cs typeface="Calibri" panose="020F0502020204030204" pitchFamily="34" charset="0"/>
              </a:rPr>
              <a:t>Outlet_Years</a:t>
            </a:r>
            <a:r>
              <a:rPr lang="en-IN" dirty="0">
                <a:latin typeface="Calibri" panose="020F0502020204030204" pitchFamily="34" charset="0"/>
                <a:cs typeface="Calibri" panose="020F0502020204030204" pitchFamily="34" charset="0"/>
              </a:rPr>
              <a:t> from the </a:t>
            </a:r>
            <a:r>
              <a:rPr lang="en-IN" dirty="0" err="1">
                <a:latin typeface="Calibri" panose="020F0502020204030204" pitchFamily="34" charset="0"/>
                <a:cs typeface="Calibri" panose="020F0502020204030204" pitchFamily="34" charset="0"/>
              </a:rPr>
              <a:t>Outlet_Establishment_Year</a:t>
            </a:r>
            <a:r>
              <a:rPr lang="en-IN" dirty="0">
                <a:latin typeface="Calibri" panose="020F0502020204030204" pitchFamily="34" charset="0"/>
                <a:cs typeface="Calibri" panose="020F0502020204030204" pitchFamily="34" charset="0"/>
              </a:rPr>
              <a:t>, there is a distinct difference between the two, making the correlation between the two extremely negative. Therefore, when processing the model, we will eliminate the </a:t>
            </a:r>
            <a:r>
              <a:rPr lang="en-IN" dirty="0" err="1">
                <a:latin typeface="Calibri" panose="020F0502020204030204" pitchFamily="34" charset="0"/>
                <a:cs typeface="Calibri" panose="020F0502020204030204" pitchFamily="34" charset="0"/>
              </a:rPr>
              <a:t>Outlet_Establishment_Year</a:t>
            </a:r>
            <a:r>
              <a:rPr lang="en-IN" dirty="0">
                <a:latin typeface="Calibri" panose="020F0502020204030204" pitchFamily="34" charset="0"/>
                <a:cs typeface="Calibri" panose="020F0502020204030204" pitchFamily="34" charset="0"/>
              </a:rPr>
              <a:t>. </a:t>
            </a:r>
          </a:p>
          <a:p>
            <a:pPr lvl="0">
              <a:buFont typeface="Arial" panose="020B0604020202020204" pitchFamily="34" charset="0"/>
              <a:buChar char="•"/>
            </a:pPr>
            <a:r>
              <a:rPr lang="en-IN" dirty="0">
                <a:latin typeface="Calibri" panose="020F0502020204030204" pitchFamily="34" charset="0"/>
                <a:cs typeface="Calibri" panose="020F0502020204030204" pitchFamily="34" charset="0"/>
              </a:rPr>
              <a:t> The outcome variable, </a:t>
            </a:r>
            <a:r>
              <a:rPr lang="en-IN" dirty="0" err="1">
                <a:latin typeface="Calibri" panose="020F0502020204030204" pitchFamily="34" charset="0"/>
                <a:cs typeface="Calibri" panose="020F0502020204030204" pitchFamily="34" charset="0"/>
              </a:rPr>
              <a:t>Item_Outlet_Sales</a:t>
            </a:r>
            <a:r>
              <a:rPr lang="en-IN" dirty="0">
                <a:latin typeface="Calibri" panose="020F0502020204030204" pitchFamily="34" charset="0"/>
                <a:cs typeface="Calibri" panose="020F0502020204030204" pitchFamily="34" charset="0"/>
              </a:rPr>
              <a:t>, indicates us from its column that </a:t>
            </a:r>
            <a:r>
              <a:rPr lang="en-IN" dirty="0" err="1">
                <a:latin typeface="Calibri" panose="020F0502020204030204" pitchFamily="34" charset="0"/>
                <a:cs typeface="Calibri" panose="020F0502020204030204" pitchFamily="34" charset="0"/>
              </a:rPr>
              <a:t>Item_MRP</a:t>
            </a:r>
            <a:r>
              <a:rPr lang="en-IN" dirty="0">
                <a:latin typeface="Calibri" panose="020F0502020204030204" pitchFamily="34" charset="0"/>
                <a:cs typeface="Calibri" panose="020F0502020204030204" pitchFamily="34" charset="0"/>
              </a:rPr>
              <a:t> is a highly impaction prediction variable. Nothing else has made a significant contribution.</a:t>
            </a:r>
          </a:p>
          <a:p>
            <a:endParaRPr lang="en-IN" dirty="0"/>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buNone/>
              <a:defRPr/>
            </a:pPr>
            <a:fld id="{76D8818E-4975-47DF-8CD0-6344EFD914C9}" type="slidenum">
              <a:rPr lang="en-US" smtClean="0"/>
              <a:t>23</a:t>
            </a:fld>
            <a:endParaRPr lang="en-US" dirty="0"/>
          </a:p>
        </p:txBody>
      </p:sp>
      <p:sp>
        <p:nvSpPr>
          <p:cNvPr id="68609" name="Rectangle 1"/>
          <p:cNvSpPr>
            <a:spLocks noChangeArrowheads="1"/>
          </p:cNvSpPr>
          <p:nvPr/>
        </p:nvSpPr>
        <p:spPr bwMode="auto">
          <a:xfrm>
            <a:off x="1142976" y="1857364"/>
            <a:ext cx="7500990" cy="40011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endPar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7" name="Title 1"/>
          <p:cNvSpPr txBox="1"/>
          <p:nvPr/>
        </p:nvSpPr>
        <p:spPr>
          <a:xfrm>
            <a:off x="609600" y="980440"/>
            <a:ext cx="7607300" cy="949960"/>
          </a:xfrm>
          <a:prstGeom prst="rect">
            <a:avLst/>
          </a:prstGeom>
        </p:spPr>
        <p:txBody>
          <a:bodyPr vert="horz" lIns="91440" tIns="45720" rIns="91440" bIns="45720" rtlCol="0" anchor="ctr">
            <a:noAutofit/>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r>
              <a:rPr lang="en-IN" sz="3600" dirty="0">
                <a:latin typeface="Calibri" panose="020F0502020204030204"/>
                <a:cs typeface="Calibri" panose="020F0502020204030204"/>
              </a:rPr>
              <a:t>Conclusion</a:t>
            </a:r>
            <a:r>
              <a:rPr lang="en-US" altLang="en-IN" sz="3600" dirty="0">
                <a:latin typeface="Calibri" panose="020F0502020204030204"/>
                <a:cs typeface="Calibri" panose="020F0502020204030204"/>
              </a:rPr>
              <a:t> &amp; Future work</a:t>
            </a:r>
            <a:r>
              <a:rPr lang="en-CA" altLang="en-IN" sz="3600" dirty="0">
                <a:latin typeface="Calibri" panose="020F0502020204030204"/>
                <a:cs typeface="Calibri" panose="020F0502020204030204"/>
              </a:rPr>
              <a:t> </a:t>
            </a:r>
          </a:p>
        </p:txBody>
      </p:sp>
      <p:sp>
        <p:nvSpPr>
          <p:cNvPr id="2" name="Content Placeholder 1"/>
          <p:cNvSpPr>
            <a:spLocks noGrp="1"/>
          </p:cNvSpPr>
          <p:nvPr>
            <p:ph idx="1"/>
          </p:nvPr>
        </p:nvSpPr>
        <p:spPr>
          <a:xfrm>
            <a:off x="683568" y="1772816"/>
            <a:ext cx="8064896" cy="4536504"/>
          </a:xfrm>
        </p:spPr>
        <p:txBody>
          <a:bodyPr>
            <a:noAutofit/>
          </a:bodyPr>
          <a:lstStyle/>
          <a:p>
            <a:pPr algn="just">
              <a:buFont typeface="Arial" panose="020B0604020202020204" pitchFamily="34" charset="0"/>
              <a:buChar char="•"/>
            </a:pPr>
            <a:r>
              <a:rPr lang="en-US" dirty="0">
                <a:latin typeface="Calibri" panose="020F0502020204030204" pitchFamily="34" charset="0"/>
                <a:cs typeface="Calibri" panose="020F0502020204030204" pitchFamily="34" charset="0"/>
              </a:rPr>
              <a:t> The goal of this project is to produce accurate sales forecasts for all items, so that businesses will have a better picture of where they stand and if they need to adjust their marketing tactics to achieve their goals. Additionally, the </a:t>
            </a:r>
            <a:r>
              <a:rPr lang="en-US" dirty="0" err="1">
                <a:latin typeface="Calibri" panose="020F0502020204030204" pitchFamily="34" charset="0"/>
                <a:cs typeface="Calibri" panose="020F0502020204030204" pitchFamily="34" charset="0"/>
              </a:rPr>
              <a:t>Arima</a:t>
            </a:r>
            <a:r>
              <a:rPr lang="en-US" dirty="0">
                <a:latin typeface="Calibri" panose="020F0502020204030204" pitchFamily="34" charset="0"/>
                <a:cs typeface="Calibri" panose="020F0502020204030204" pitchFamily="34" charset="0"/>
              </a:rPr>
              <a:t> model uses a time series graph to accurately anticipate future sales. We used the </a:t>
            </a:r>
            <a:r>
              <a:rPr lang="en-US" dirty="0" err="1">
                <a:latin typeface="Calibri" panose="020F0502020204030204" pitchFamily="34" charset="0"/>
                <a:cs typeface="Calibri" panose="020F0502020204030204" pitchFamily="34" charset="0"/>
              </a:rPr>
              <a:t>Arima</a:t>
            </a:r>
            <a:r>
              <a:rPr lang="en-US" dirty="0">
                <a:latin typeface="Calibri" panose="020F0502020204030204" pitchFamily="34" charset="0"/>
                <a:cs typeface="Calibri" panose="020F0502020204030204" pitchFamily="34" charset="0"/>
              </a:rPr>
              <a:t> model to forecast product sales over the next two years, and our results indicate that sales will rise steadily throughout that time.</a:t>
            </a:r>
          </a:p>
          <a:p>
            <a:pPr algn="just">
              <a:buFont typeface="Arial" panose="020B0604020202020204" pitchFamily="34" charset="0"/>
              <a:buChar char="•"/>
            </a:pPr>
            <a:r>
              <a:rPr lang="en-US" dirty="0">
                <a:latin typeface="Calibri" panose="020F0502020204030204" pitchFamily="34" charset="0"/>
                <a:cs typeface="Calibri" panose="020F0502020204030204" pitchFamily="34" charset="0"/>
              </a:rPr>
              <a:t> We’ve created our project research based as the model is not created to build the model, we always have to make changes in the code to predict the future of any sales according to dataset; however, models make all this work easy as it only takes dataset to perform a final time series graph. Therefore, this project’s ongoing work may involve developing a predictive model that may accept a dataset as input and output forecasts. In addition, our model can only provide predictions for the next year or so. This indicates that trying to predict a product’s monthly sales is a futile </a:t>
            </a:r>
            <a:r>
              <a:rPr lang="en-US" dirty="0" err="1">
                <a:latin typeface="Calibri" panose="020F0502020204030204" pitchFamily="34" charset="0"/>
                <a:cs typeface="Calibri" panose="020F0502020204030204" pitchFamily="34" charset="0"/>
              </a:rPr>
              <a:t>endeavour</a:t>
            </a:r>
            <a:r>
              <a:rPr lang="en-US" dirty="0">
                <a:latin typeface="Calibri" panose="020F0502020204030204" pitchFamily="34" charset="0"/>
                <a:cs typeface="Calibri" panose="020F0502020204030204" pitchFamily="34" charset="0"/>
              </a:rPr>
              <a:t>. As a result, this is something that may be taken into account as the project progresses.</a:t>
            </a:r>
          </a:p>
          <a:p>
            <a:pPr algn="just">
              <a:buFont typeface="Arial" panose="020B0604020202020204" pitchFamily="34" charset="0"/>
              <a:buChar char="•"/>
            </a:pPr>
            <a:endParaRPr lang="en-US" dirty="0">
              <a:latin typeface="Calibri" panose="020F0502020204030204" pitchFamily="34" charset="0"/>
              <a:ea typeface="+mn-lt"/>
              <a:cs typeface="Calibri" panose="020F0502020204030204" pitchFamily="34" charset="0"/>
              <a:sym typeface="+mn-ea"/>
            </a:endParaRPr>
          </a:p>
          <a:p>
            <a:pPr algn="just">
              <a:buFont typeface="Arial" panose="020B0604020202020204" pitchFamily="34" charset="0"/>
              <a:buChar char="•"/>
            </a:pPr>
            <a:endParaRPr lang="en-US" dirty="0">
              <a:latin typeface="Calibri" panose="020F0502020204030204" pitchFamily="34" charset="0"/>
              <a:ea typeface="+mn-lt"/>
              <a:cs typeface="Calibri" panose="020F0502020204030204" pitchFamily="34"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502" y="845840"/>
            <a:ext cx="7681914" cy="1143000"/>
          </a:xfrm>
        </p:spPr>
        <p:txBody>
          <a:bodyPr>
            <a:normAutofit/>
          </a:bodyPr>
          <a:lstStyle/>
          <a:p>
            <a:r>
              <a:rPr lang="en-US" sz="3600" dirty="0">
                <a:solidFill>
                  <a:schemeClr val="tx1"/>
                </a:solidFill>
                <a:effectLst/>
                <a:latin typeface="Calibri" panose="020F0502020204030204"/>
                <a:cs typeface="Calibri" panose="020F0502020204030204"/>
              </a:rPr>
              <a:t>References</a:t>
            </a:r>
          </a:p>
        </p:txBody>
      </p:sp>
      <p:sp>
        <p:nvSpPr>
          <p:cNvPr id="4" name="Slide Number Placeholder 3"/>
          <p:cNvSpPr>
            <a:spLocks noGrp="1"/>
          </p:cNvSpPr>
          <p:nvPr>
            <p:ph type="sldNum" sz="quarter" idx="12"/>
          </p:nvPr>
        </p:nvSpPr>
        <p:spPr/>
        <p:txBody>
          <a:bodyPr/>
          <a:lstStyle/>
          <a:p>
            <a:pPr>
              <a:buNone/>
              <a:defRPr/>
            </a:pPr>
            <a:fld id="{76D8818E-4975-47DF-8CD0-6344EFD914C9}" type="slidenum">
              <a:rPr lang="en-US" smtClean="0"/>
              <a:t>24</a:t>
            </a:fld>
            <a:endParaRPr lang="en-US" dirty="0"/>
          </a:p>
        </p:txBody>
      </p:sp>
      <p:sp>
        <p:nvSpPr>
          <p:cNvPr id="3" name="Text Box 2"/>
          <p:cNvSpPr txBox="1"/>
          <p:nvPr/>
        </p:nvSpPr>
        <p:spPr>
          <a:xfrm>
            <a:off x="755577" y="1845310"/>
            <a:ext cx="7704856" cy="4893647"/>
          </a:xfrm>
          <a:prstGeom prst="rect">
            <a:avLst/>
          </a:prstGeom>
          <a:noFill/>
        </p:spPr>
        <p:txBody>
          <a:bodyPr wrap="square" lIns="91440" tIns="45720" rIns="91440" bIns="45720" rtlCol="0" anchor="t">
            <a:spAutoFit/>
          </a:bodyPr>
          <a:lstStyle/>
          <a:p>
            <a:pPr marL="228600" indent="-228600" algn="just">
              <a:buAutoNum type="arabicPeriod"/>
            </a:pPr>
            <a:r>
              <a:rPr lang="en-US" sz="1300" dirty="0">
                <a:latin typeface="Calibri" panose="020F0502020204030204"/>
                <a:ea typeface="+mn-lt"/>
                <a:cs typeface="+mn-lt"/>
              </a:rPr>
              <a:t>Gopalakrishnan, T., Choudhary, R., &amp; Prasad, S. (2018, December). Prediction of Sales Value in Online shopping using Linear Regression. In </a:t>
            </a:r>
            <a:r>
              <a:rPr lang="en-US" sz="1300" i="1" dirty="0">
                <a:latin typeface="Calibri" panose="020F0502020204030204"/>
                <a:ea typeface="+mn-lt"/>
                <a:cs typeface="+mn-lt"/>
              </a:rPr>
              <a:t>2018 4th International Conference on Computing Communication and Automation (ICCCA)</a:t>
            </a:r>
            <a:r>
              <a:rPr lang="en-US" sz="1300" dirty="0">
                <a:latin typeface="Calibri" panose="020F0502020204030204"/>
                <a:ea typeface="+mn-lt"/>
                <a:cs typeface="+mn-lt"/>
              </a:rPr>
              <a:t> (pp. 1-6). IEEE.  </a:t>
            </a:r>
          </a:p>
          <a:p>
            <a:pPr marL="228600" indent="-228600" algn="just">
              <a:buAutoNum type="arabicPeriod"/>
            </a:pPr>
            <a:r>
              <a:rPr lang="en-US" sz="1300" dirty="0" err="1">
                <a:latin typeface="Calibri" panose="020F0502020204030204"/>
                <a:ea typeface="+mn-lt"/>
                <a:cs typeface="+mn-lt"/>
              </a:rPr>
              <a:t>Wisesa</a:t>
            </a:r>
            <a:r>
              <a:rPr lang="en-US" sz="1300" dirty="0">
                <a:latin typeface="Calibri" panose="020F0502020204030204"/>
                <a:ea typeface="+mn-lt"/>
                <a:cs typeface="+mn-lt"/>
              </a:rPr>
              <a:t>, O., </a:t>
            </a:r>
            <a:r>
              <a:rPr lang="en-US" sz="1300" dirty="0" err="1">
                <a:latin typeface="Calibri" panose="020F0502020204030204"/>
                <a:ea typeface="+mn-lt"/>
                <a:cs typeface="+mn-lt"/>
              </a:rPr>
              <a:t>Adriansyah</a:t>
            </a:r>
            <a:r>
              <a:rPr lang="en-US" sz="1300" dirty="0">
                <a:latin typeface="Calibri" panose="020F0502020204030204"/>
                <a:ea typeface="+mn-lt"/>
                <a:cs typeface="+mn-lt"/>
              </a:rPr>
              <a:t>, A., &amp; Khalaf, O. I. (2020, September). Prediction analysis sales for corporate services telecommunications company using gradient boost algorithm. In </a:t>
            </a:r>
            <a:r>
              <a:rPr lang="en-US" sz="1300" i="1" dirty="0">
                <a:latin typeface="Calibri" panose="020F0502020204030204"/>
                <a:ea typeface="+mn-lt"/>
                <a:cs typeface="+mn-lt"/>
              </a:rPr>
              <a:t>2020 2nd International Conference on Broadband Communications, Wireless Sensors and Powering (BCWSP)</a:t>
            </a:r>
            <a:r>
              <a:rPr lang="en-US" sz="1300" dirty="0">
                <a:latin typeface="Calibri" panose="020F0502020204030204"/>
                <a:ea typeface="+mn-lt"/>
                <a:cs typeface="+mn-lt"/>
              </a:rPr>
              <a:t> (pp. 101-106). IEEE.</a:t>
            </a:r>
            <a:r>
              <a:rPr lang="en-US" sz="1300" b="1" u="sng" dirty="0">
                <a:latin typeface="Calibri" panose="020F0502020204030204"/>
                <a:ea typeface="+mn-lt"/>
                <a:cs typeface="+mn-lt"/>
              </a:rPr>
              <a:t> </a:t>
            </a:r>
            <a:r>
              <a:rPr lang="en-US" sz="1300" dirty="0">
                <a:latin typeface="Calibri" panose="020F0502020204030204"/>
                <a:ea typeface="+mn-lt"/>
                <a:cs typeface="+mn-lt"/>
              </a:rPr>
              <a:t> </a:t>
            </a:r>
          </a:p>
          <a:p>
            <a:pPr marL="228600" indent="-228600" algn="just">
              <a:buAutoNum type="arabicPeriod"/>
            </a:pPr>
            <a:r>
              <a:rPr lang="en-US" sz="1300" dirty="0">
                <a:latin typeface="Calibri" panose="020F0502020204030204"/>
                <a:ea typeface="+mn-lt"/>
                <a:cs typeface="+mn-lt"/>
              </a:rPr>
              <a:t>Ramachandra, H. V., </a:t>
            </a:r>
            <a:r>
              <a:rPr lang="en-US" sz="1300" dirty="0" err="1">
                <a:latin typeface="Calibri" panose="020F0502020204030204"/>
                <a:ea typeface="+mn-lt"/>
                <a:cs typeface="+mn-lt"/>
              </a:rPr>
              <a:t>Balaraju</a:t>
            </a:r>
            <a:r>
              <a:rPr lang="en-US" sz="1300" dirty="0">
                <a:latin typeface="Calibri" panose="020F0502020204030204"/>
                <a:ea typeface="+mn-lt"/>
                <a:cs typeface="+mn-lt"/>
              </a:rPr>
              <a:t>, G., Rajashekar, A., &amp; Patil, H. (2021, March). Machine Learning Application for Black Friday Sales Prediction Framework. In </a:t>
            </a:r>
            <a:r>
              <a:rPr lang="en-US" sz="1300" i="1" dirty="0">
                <a:latin typeface="Calibri" panose="020F0502020204030204"/>
                <a:ea typeface="+mn-lt"/>
                <a:cs typeface="+mn-lt"/>
              </a:rPr>
              <a:t>2021 International Conference on Emerging Smart Computing and Informatics (ESCI)</a:t>
            </a:r>
            <a:r>
              <a:rPr lang="en-US" sz="1300" dirty="0">
                <a:latin typeface="Calibri" panose="020F0502020204030204"/>
                <a:ea typeface="+mn-lt"/>
                <a:cs typeface="+mn-lt"/>
              </a:rPr>
              <a:t> (pp. 57-61). IEEE. </a:t>
            </a:r>
            <a:r>
              <a:rPr lang="en-US" sz="1300" b="1" u="sng" dirty="0">
                <a:latin typeface="Calibri" panose="020F0502020204030204"/>
                <a:ea typeface="+mn-lt"/>
                <a:cs typeface="+mn-lt"/>
              </a:rPr>
              <a:t> </a:t>
            </a:r>
            <a:endParaRPr lang="en-US" sz="1300" dirty="0">
              <a:latin typeface="Calibri" panose="020F0502020204030204"/>
              <a:ea typeface="+mn-lt"/>
              <a:cs typeface="+mn-lt"/>
            </a:endParaRPr>
          </a:p>
          <a:p>
            <a:pPr marL="228600" indent="-228600" algn="just">
              <a:buAutoNum type="arabicPeriod"/>
            </a:pPr>
            <a:r>
              <a:rPr lang="en-US" sz="1300" dirty="0">
                <a:latin typeface="Calibri" panose="020F0502020204030204"/>
                <a:ea typeface="+mn-lt"/>
                <a:cs typeface="+mn-lt"/>
              </a:rPr>
              <a:t>Li, Y., Zhu, P., &amp; Qin, S. (2017, October). Optimization of ticket purchasing strategy based on machine learning. In </a:t>
            </a:r>
            <a:r>
              <a:rPr lang="en-US" sz="1300" i="1" dirty="0">
                <a:latin typeface="Calibri" panose="020F0502020204030204"/>
                <a:ea typeface="+mn-lt"/>
                <a:cs typeface="+mn-lt"/>
              </a:rPr>
              <a:t>2017 IEEE 3rd Information Technology and Mechatronics Engineering Conference (ITOEC)</a:t>
            </a:r>
            <a:r>
              <a:rPr lang="en-US" sz="1300" dirty="0">
                <a:latin typeface="Calibri" panose="020F0502020204030204"/>
                <a:ea typeface="+mn-lt"/>
                <a:cs typeface="+mn-lt"/>
              </a:rPr>
              <a:t> (pp. 1230-1234). IEEE.</a:t>
            </a:r>
          </a:p>
          <a:p>
            <a:pPr marL="228600" indent="-228600" algn="just">
              <a:buAutoNum type="arabicPeriod"/>
            </a:pPr>
            <a:r>
              <a:rPr lang="en-US" sz="1300" dirty="0">
                <a:latin typeface="Calibri" panose="020F0502020204030204"/>
                <a:ea typeface="+mn-lt"/>
                <a:cs typeface="+mn-lt"/>
              </a:rPr>
              <a:t>Kumar, N., &amp; Choudhari, S. </a:t>
            </a:r>
            <a:r>
              <a:rPr lang="en-US" sz="1300" dirty="0" err="1">
                <a:latin typeface="Calibri" panose="020F0502020204030204"/>
                <a:ea typeface="+mn-lt"/>
                <a:cs typeface="+mn-lt"/>
              </a:rPr>
              <a:t>BigMart</a:t>
            </a:r>
            <a:r>
              <a:rPr lang="en-US" sz="1300" dirty="0">
                <a:latin typeface="Calibri" panose="020F0502020204030204"/>
                <a:ea typeface="+mn-lt"/>
                <a:cs typeface="+mn-lt"/>
              </a:rPr>
              <a:t> Sale Prediction using Machine Learning.</a:t>
            </a:r>
          </a:p>
          <a:p>
            <a:pPr marL="228600" indent="-228600" algn="just">
              <a:buAutoNum type="arabicPeriod"/>
            </a:pPr>
            <a:r>
              <a:rPr lang="en-US" sz="1300" dirty="0">
                <a:latin typeface="Calibri" panose="020F0502020204030204"/>
                <a:ea typeface="+mn-lt"/>
                <a:cs typeface="+mn-lt"/>
              </a:rPr>
              <a:t>Chavan, S., Panchal, S., Sawant, T., &amp; Shinde, J. (2020). Predicting Online Product Sales using Machine Learning.</a:t>
            </a:r>
          </a:p>
          <a:p>
            <a:pPr marL="228600" indent="-228600" algn="just">
              <a:buAutoNum type="arabicPeriod"/>
            </a:pPr>
            <a:r>
              <a:rPr lang="en-US" sz="1300" dirty="0">
                <a:latin typeface="Calibri" panose="020F0502020204030204"/>
                <a:ea typeface="+mn-lt"/>
                <a:cs typeface="+mn-lt"/>
              </a:rPr>
              <a:t>DASARI, A. K., &amp; RAMASUBBAIAH, B. BIGMART SALES USING MACHINE LEARNING WITH DATA ANALYSIS. </a:t>
            </a:r>
            <a:endParaRPr lang="en-IN" sz="1300">
              <a:latin typeface="Calibri" panose="020F0502020204030204"/>
              <a:ea typeface="+mn-lt"/>
              <a:cs typeface="+mn-lt"/>
            </a:endParaRPr>
          </a:p>
          <a:p>
            <a:pPr marL="228600" indent="-228600" algn="just">
              <a:buAutoNum type="arabicPeriod"/>
            </a:pPr>
            <a:r>
              <a:rPr lang="en-US" sz="1300" dirty="0">
                <a:latin typeface="Calibri" panose="020F0502020204030204"/>
                <a:ea typeface="+mn-lt"/>
                <a:cs typeface="+mn-lt"/>
              </a:rPr>
              <a:t>Parmar, I., Agarwal, N., Saxena, S., Arora, R., Gupta, S., Dhiman, H., &amp; Chouhan, L. (2018, December). Stock market prediction using machine learning. In </a:t>
            </a:r>
            <a:r>
              <a:rPr lang="en-US" sz="1300" i="1" dirty="0">
                <a:latin typeface="Calibri" panose="020F0502020204030204"/>
                <a:ea typeface="+mn-lt"/>
                <a:cs typeface="+mn-lt"/>
              </a:rPr>
              <a:t>2018 first international conference on secure cyber computing and communication (ICSCCC)</a:t>
            </a:r>
            <a:r>
              <a:rPr lang="en-US" sz="1300" dirty="0">
                <a:latin typeface="Calibri" panose="020F0502020204030204"/>
                <a:ea typeface="+mn-lt"/>
                <a:cs typeface="+mn-lt"/>
              </a:rPr>
              <a:t> (pp. 574-576). IEEE. </a:t>
            </a:r>
            <a:endParaRPr lang="en-IN" sz="1300">
              <a:latin typeface="Calibri" panose="020F0502020204030204"/>
              <a:ea typeface="+mn-lt"/>
              <a:cs typeface="+mn-lt"/>
            </a:endParaRPr>
          </a:p>
          <a:p>
            <a:pPr marL="228600" indent="-228600" algn="just">
              <a:buAutoNum type="arabicPeriod"/>
            </a:pPr>
            <a:r>
              <a:rPr lang="en-US" sz="1300" dirty="0">
                <a:latin typeface="Calibri" panose="020F0502020204030204"/>
                <a:ea typeface="+mn-lt"/>
                <a:cs typeface="+mn-lt"/>
              </a:rPr>
              <a:t>Coppola, D. (2019). </a:t>
            </a:r>
            <a:r>
              <a:rPr lang="en-US" sz="1300" i="1" dirty="0">
                <a:latin typeface="Calibri" panose="020F0502020204030204"/>
                <a:ea typeface="+mn-lt"/>
                <a:cs typeface="+mn-lt"/>
              </a:rPr>
              <a:t>Prediction model for drinking water network failures</a:t>
            </a:r>
            <a:r>
              <a:rPr lang="en-US" sz="1300" dirty="0">
                <a:latin typeface="Calibri" panose="020F0502020204030204"/>
                <a:ea typeface="+mn-lt"/>
                <a:cs typeface="+mn-lt"/>
              </a:rPr>
              <a:t> (Doctoral dissertation, </a:t>
            </a:r>
            <a:r>
              <a:rPr lang="en-US" sz="1300" dirty="0" err="1">
                <a:latin typeface="Calibri" panose="020F0502020204030204"/>
                <a:ea typeface="+mn-lt"/>
                <a:cs typeface="+mn-lt"/>
              </a:rPr>
              <a:t>Politecnico</a:t>
            </a:r>
            <a:r>
              <a:rPr lang="en-US" sz="1300" dirty="0">
                <a:latin typeface="Calibri" panose="020F0502020204030204"/>
                <a:ea typeface="+mn-lt"/>
                <a:cs typeface="+mn-lt"/>
              </a:rPr>
              <a:t> di Torino).  </a:t>
            </a:r>
            <a:endParaRPr lang="en-IN" sz="1300">
              <a:latin typeface="Calibri" panose="020F0502020204030204"/>
              <a:ea typeface="+mn-lt"/>
              <a:cs typeface="+mn-lt"/>
            </a:endParaRPr>
          </a:p>
          <a:p>
            <a:pPr marL="228600" indent="-228600" algn="just">
              <a:buAutoNum type="arabicPeriod"/>
            </a:pPr>
            <a:r>
              <a:rPr lang="en-US" sz="1300" dirty="0">
                <a:latin typeface="Calibri" panose="020F0502020204030204"/>
                <a:ea typeface="+mn-lt"/>
                <a:cs typeface="+mn-lt"/>
              </a:rPr>
              <a:t>Nassif, A. B. (2016, December). Short term power demand prediction using stochastic gradient boosting. In </a:t>
            </a:r>
            <a:r>
              <a:rPr lang="en-US" sz="1300" i="1" dirty="0">
                <a:latin typeface="Calibri" panose="020F0502020204030204"/>
                <a:ea typeface="+mn-lt"/>
                <a:cs typeface="+mn-lt"/>
              </a:rPr>
              <a:t>2016 5th International Conference on Electronic Devices, Systems and Applications (ICEDSA)</a:t>
            </a:r>
            <a:r>
              <a:rPr lang="en-US" sz="1300" dirty="0">
                <a:latin typeface="Calibri" panose="020F0502020204030204"/>
                <a:ea typeface="+mn-lt"/>
                <a:cs typeface="+mn-lt"/>
              </a:rPr>
              <a:t> (pp. 1-4). IEEE. </a:t>
            </a:r>
            <a:endParaRPr lang="en-IN" sz="1300">
              <a:latin typeface="Calibri" panose="020F0502020204030204"/>
              <a:cs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251" y="692531"/>
            <a:ext cx="7290054" cy="1499616"/>
          </a:xfrm>
        </p:spPr>
        <p:txBody>
          <a:bodyPr/>
          <a:lstStyle/>
          <a:p>
            <a:r>
              <a:rPr lang="en-US" sz="3600" dirty="0">
                <a:latin typeface="Calibri" panose="020F0502020204030204"/>
                <a:ea typeface="+mj-lt"/>
                <a:cs typeface="Calibri" panose="020F0502020204030204"/>
              </a:rPr>
              <a:t>Web References</a:t>
            </a:r>
            <a:r>
              <a:rPr lang="en-US" dirty="0">
                <a:latin typeface="Calibri" panose="020F0502020204030204"/>
                <a:ea typeface="+mj-lt"/>
                <a:cs typeface="+mj-lt"/>
              </a:rPr>
              <a:t> </a:t>
            </a:r>
            <a:endParaRPr lang="en-US">
              <a:latin typeface="Calibri" panose="020F0502020204030204"/>
              <a:cs typeface="Calibri" panose="020F0502020204030204"/>
            </a:endParaRPr>
          </a:p>
        </p:txBody>
      </p:sp>
      <p:sp>
        <p:nvSpPr>
          <p:cNvPr id="3" name="Content Placeholder 2"/>
          <p:cNvSpPr>
            <a:spLocks noGrp="1"/>
          </p:cNvSpPr>
          <p:nvPr>
            <p:ph idx="1"/>
          </p:nvPr>
        </p:nvSpPr>
        <p:spPr/>
        <p:txBody>
          <a:bodyPr vert="horz" lIns="45720" tIns="45720" rIns="45720" bIns="45720" rtlCol="0" anchor="t">
            <a:normAutofit/>
          </a:bodyPr>
          <a:lstStyle/>
          <a:p>
            <a:r>
              <a:rPr lang="en-US" dirty="0">
                <a:latin typeface="Calibri" panose="020F0502020204030204"/>
                <a:ea typeface="+mn-lt"/>
                <a:cs typeface="+mn-lt"/>
              </a:rPr>
              <a:t>11.  </a:t>
            </a:r>
            <a:r>
              <a:rPr lang="en-US" dirty="0">
                <a:latin typeface="Calibri" panose="020F0502020204030204"/>
                <a:ea typeface="+mn-lt"/>
                <a:cs typeface="+mn-lt"/>
                <a:hlinkClick r:id="rId2"/>
              </a:rPr>
              <a:t>https://www.tensorflow.org/</a:t>
            </a:r>
            <a:r>
              <a:rPr lang="en-US" dirty="0">
                <a:latin typeface="Calibri" panose="020F0502020204030204"/>
                <a:ea typeface="+mn-lt"/>
                <a:cs typeface="+mn-lt"/>
              </a:rPr>
              <a:t> </a:t>
            </a:r>
            <a:endParaRPr lang="en-US">
              <a:latin typeface="Calibri" panose="020F0502020204030204"/>
              <a:cs typeface="Calibri" panose="020F0502020204030204"/>
            </a:endParaRPr>
          </a:p>
          <a:p>
            <a:r>
              <a:rPr lang="en-US" dirty="0">
                <a:latin typeface="Calibri" panose="020F0502020204030204"/>
                <a:ea typeface="+mn-lt"/>
                <a:cs typeface="+mn-lt"/>
              </a:rPr>
              <a:t>12.  </a:t>
            </a:r>
            <a:r>
              <a:rPr lang="en-US" u="sng" dirty="0">
                <a:latin typeface="Calibri" panose="020F0502020204030204"/>
                <a:ea typeface="+mn-lt"/>
                <a:cs typeface="+mn-lt"/>
                <a:hlinkClick r:id="rId3"/>
              </a:rPr>
              <a:t>https://matplotlib.org/</a:t>
            </a:r>
            <a:r>
              <a:rPr lang="en-US" dirty="0">
                <a:latin typeface="Calibri" panose="020F0502020204030204"/>
                <a:ea typeface="+mn-lt"/>
                <a:cs typeface="+mn-lt"/>
              </a:rPr>
              <a:t> </a:t>
            </a:r>
            <a:endParaRPr lang="en-US">
              <a:latin typeface="Calibri" panose="020F0502020204030204"/>
              <a:cs typeface="Calibri" panose="020F0502020204030204"/>
            </a:endParaRPr>
          </a:p>
          <a:p>
            <a:r>
              <a:rPr lang="en-US" dirty="0">
                <a:latin typeface="Calibri" panose="020F0502020204030204"/>
                <a:ea typeface="+mn-lt"/>
                <a:cs typeface="+mn-lt"/>
              </a:rPr>
              <a:t>13.  </a:t>
            </a:r>
            <a:r>
              <a:rPr lang="en-US" dirty="0">
                <a:latin typeface="Calibri" panose="020F0502020204030204"/>
                <a:ea typeface="+mn-lt"/>
                <a:cs typeface="+mn-lt"/>
                <a:hlinkClick r:id="rId4"/>
              </a:rPr>
              <a:t>https://pandas.pydata.org/</a:t>
            </a:r>
            <a:r>
              <a:rPr lang="en-US" dirty="0">
                <a:latin typeface="Calibri" panose="020F0502020204030204"/>
                <a:ea typeface="+mn-lt"/>
                <a:cs typeface="+mn-lt"/>
              </a:rPr>
              <a:t> </a:t>
            </a:r>
            <a:endParaRPr lang="en-US">
              <a:latin typeface="Calibri" panose="020F0502020204030204"/>
              <a:cs typeface="Calibri" panose="020F0502020204030204"/>
            </a:endParaRPr>
          </a:p>
          <a:p>
            <a:r>
              <a:rPr lang="en-US" dirty="0">
                <a:latin typeface="Calibri" panose="020F0502020204030204"/>
                <a:ea typeface="+mn-lt"/>
                <a:cs typeface="+mn-lt"/>
              </a:rPr>
              <a:t>14.  </a:t>
            </a:r>
            <a:r>
              <a:rPr lang="en-US" dirty="0">
                <a:latin typeface="Calibri" panose="020F0502020204030204"/>
                <a:ea typeface="+mn-lt"/>
                <a:cs typeface="+mn-lt"/>
                <a:hlinkClick r:id="rId5"/>
              </a:rPr>
              <a:t>https://www.youtube.com/watch?v=PD5QguzEdNs</a:t>
            </a:r>
            <a:r>
              <a:rPr lang="en-US" dirty="0">
                <a:latin typeface="Calibri" panose="020F0502020204030204"/>
                <a:ea typeface="+mn-lt"/>
                <a:cs typeface="+mn-lt"/>
              </a:rPr>
              <a:t> </a:t>
            </a:r>
            <a:endParaRPr lang="en-US">
              <a:latin typeface="Calibri" panose="020F0502020204030204"/>
              <a:cs typeface="Calibri" panose="020F0502020204030204"/>
            </a:endParaRPr>
          </a:p>
          <a:p>
            <a:r>
              <a:rPr lang="en-US" dirty="0">
                <a:latin typeface="Calibri" panose="020F0502020204030204"/>
                <a:ea typeface="+mn-lt"/>
                <a:cs typeface="+mn-lt"/>
              </a:rPr>
              <a:t>15.  </a:t>
            </a:r>
            <a:r>
              <a:rPr lang="en-US" dirty="0">
                <a:latin typeface="Calibri" panose="020F0502020204030204"/>
                <a:ea typeface="+mn-lt"/>
                <a:cs typeface="+mn-lt"/>
                <a:hlinkClick r:id="rId6"/>
              </a:rPr>
              <a:t>https://www.lucidchart.com/</a:t>
            </a:r>
            <a:r>
              <a:rPr lang="en-US" dirty="0">
                <a:latin typeface="Calibri" panose="020F0502020204030204"/>
                <a:ea typeface="+mn-lt"/>
                <a:cs typeface="+mn-lt"/>
              </a:rPr>
              <a:t> </a:t>
            </a:r>
            <a:endParaRPr lang="en-US">
              <a:latin typeface="Calibri" panose="020F0502020204030204"/>
              <a:cs typeface="Calibri" panose="020F0502020204030204"/>
            </a:endParaRPr>
          </a:p>
          <a:p>
            <a:r>
              <a:rPr lang="en-US" dirty="0">
                <a:latin typeface="Calibri" panose="020F0502020204030204"/>
                <a:ea typeface="+mn-lt"/>
                <a:cs typeface="+mn-lt"/>
              </a:rPr>
              <a:t>16.  </a:t>
            </a:r>
            <a:r>
              <a:rPr lang="en-US" dirty="0">
                <a:latin typeface="Calibri" panose="020F0502020204030204"/>
                <a:ea typeface="+mn-lt"/>
                <a:cs typeface="+mn-lt"/>
                <a:hlinkClick r:id="rId7"/>
              </a:rPr>
              <a:t>https://apps.diagrams.net</a:t>
            </a:r>
            <a:r>
              <a:rPr lang="en-US" dirty="0">
                <a:latin typeface="Calibri" panose="020F0502020204030204"/>
                <a:ea typeface="+mn-lt"/>
                <a:cs typeface="+mn-lt"/>
              </a:rPr>
              <a:t> </a:t>
            </a:r>
            <a:endParaRPr lang="en-US">
              <a:latin typeface="Calibri" panose="020F0502020204030204"/>
              <a:cs typeface="Calibri" panose="020F0502020204030204"/>
            </a:endParaRPr>
          </a:p>
          <a:p>
            <a:r>
              <a:rPr lang="en-US" dirty="0">
                <a:latin typeface="Calibri" panose="020F0502020204030204"/>
                <a:ea typeface="+mn-lt"/>
                <a:cs typeface="+mn-lt"/>
              </a:rPr>
              <a:t>17. </a:t>
            </a:r>
            <a:r>
              <a:rPr lang="en-US" dirty="0">
                <a:latin typeface="Calibri" panose="020F0502020204030204"/>
                <a:ea typeface="+mn-lt"/>
                <a:cs typeface="+mn-lt"/>
                <a:hlinkClick r:id="rId8"/>
              </a:rPr>
              <a:t>https://jupyter.org/</a:t>
            </a:r>
            <a:r>
              <a:rPr lang="en-US" dirty="0">
                <a:latin typeface="Calibri" panose="020F0502020204030204"/>
                <a:ea typeface="+mn-lt"/>
                <a:cs typeface="+mn-lt"/>
              </a:rPr>
              <a:t> </a:t>
            </a:r>
            <a:endParaRPr lang="en-US">
              <a:latin typeface="Calibri" panose="020F0502020204030204"/>
              <a:ea typeface="+mn-lt"/>
              <a:cs typeface="Calibri" panose="020F0502020204030204"/>
            </a:endParaRPr>
          </a:p>
          <a:p>
            <a:r>
              <a:rPr lang="en-US" dirty="0">
                <a:latin typeface="Calibri" panose="020F0502020204030204"/>
                <a:cs typeface="Calibri" panose="020F0502020204030204"/>
              </a:rPr>
              <a:t>18. </a:t>
            </a:r>
            <a:r>
              <a:rPr lang="en-US" u="sng" dirty="0">
                <a:solidFill>
                  <a:srgbClr val="93A303"/>
                </a:solidFill>
                <a:latin typeface="Calibri" panose="020F0502020204030204"/>
                <a:cs typeface="Calibri" panose="020F0502020204030204"/>
              </a:rPr>
              <a:t>https://www.kaggle.com/code/hiralmshah/bigmart-sales-prediction/notebook</a:t>
            </a:r>
            <a:endParaRPr lang="en-US" dirty="0">
              <a:solidFill>
                <a:srgbClr val="93A303"/>
              </a:solidFill>
              <a:latin typeface="Calibri" panose="020F0502020204030204"/>
              <a:cs typeface="Calibri" panose="020F0502020204030204"/>
            </a:endParaRPr>
          </a:p>
        </p:txBody>
      </p:sp>
      <p:sp>
        <p:nvSpPr>
          <p:cNvPr id="4" name="Slide Number Placeholder 3"/>
          <p:cNvSpPr>
            <a:spLocks noGrp="1"/>
          </p:cNvSpPr>
          <p:nvPr>
            <p:ph type="sldNum" sz="quarter" idx="12"/>
          </p:nvPr>
        </p:nvSpPr>
        <p:spPr/>
        <p:txBody>
          <a:bodyPr/>
          <a:lstStyle/>
          <a:p>
            <a:pPr>
              <a:defRPr/>
            </a:pPr>
            <a:fld id="{76D8818E-4975-47DF-8CD0-6344EFD914C9}"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7664" y="1052736"/>
            <a:ext cx="6313512" cy="4585712"/>
          </a:xfrm>
        </p:spPr>
        <p:txBody>
          <a:bodyPr anchor="ctr"/>
          <a:lstStyle/>
          <a:p>
            <a:pPr algn="ctr">
              <a:buNone/>
            </a:pPr>
            <a:r>
              <a:rPr lang="en-US" sz="9600" b="1" dirty="0">
                <a:solidFill>
                  <a:schemeClr val="accent2">
                    <a:lumMod val="50000"/>
                  </a:schemeClr>
                </a:solidFill>
                <a:latin typeface="Arial" panose="020B0604020202020204" pitchFamily="34" charset="0"/>
                <a:cs typeface="Arial" panose="020B0604020202020204" pitchFamily="34" charset="0"/>
              </a:rPr>
              <a:t>Thank you</a:t>
            </a:r>
          </a:p>
        </p:txBody>
      </p:sp>
      <p:sp>
        <p:nvSpPr>
          <p:cNvPr id="4" name="Slide Number Placeholder 3"/>
          <p:cNvSpPr>
            <a:spLocks noGrp="1"/>
          </p:cNvSpPr>
          <p:nvPr>
            <p:ph type="sldNum" sz="quarter" idx="12"/>
          </p:nvPr>
        </p:nvSpPr>
        <p:spPr/>
        <p:txBody>
          <a:bodyPr/>
          <a:lstStyle/>
          <a:p>
            <a:pPr>
              <a:buNone/>
              <a:defRPr/>
            </a:pPr>
            <a:fld id="{76D8818E-4975-47DF-8CD0-6344EFD914C9}" type="slidenum">
              <a:rPr lang="en-US" smtClean="0"/>
              <a:t>26</a:t>
            </a:fld>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37"/>
</p:tagLst>
</file>

<file path=ppt/tags/tag2.xml><?xml version="1.0" encoding="utf-8"?>
<p:tagLst xmlns:a="http://schemas.openxmlformats.org/drawingml/2006/main" xmlns:r="http://schemas.openxmlformats.org/officeDocument/2006/relationships" xmlns:p="http://schemas.openxmlformats.org/presentationml/2006/main">
  <p:tag name="AS_UNIQUEID" val="38"/>
</p:tagLst>
</file>

<file path=ppt/tags/tag3.xml><?xml version="1.0" encoding="utf-8"?>
<p:tagLst xmlns:a="http://schemas.openxmlformats.org/drawingml/2006/main" xmlns:r="http://schemas.openxmlformats.org/officeDocument/2006/relationships" xmlns:p="http://schemas.openxmlformats.org/presentationml/2006/main">
  <p:tag name="AS_UNIQUEID" val="40"/>
</p:tagLst>
</file>

<file path=ppt/tags/tag4.xml><?xml version="1.0" encoding="utf-8"?>
<p:tagLst xmlns:a="http://schemas.openxmlformats.org/drawingml/2006/main" xmlns:r="http://schemas.openxmlformats.org/officeDocument/2006/relationships" xmlns:p="http://schemas.openxmlformats.org/presentationml/2006/main">
  <p:tag name="AS_UNIQUEID" val="41"/>
</p:tagLst>
</file>

<file path=ppt/tags/tag5.xml><?xml version="1.0" encoding="utf-8"?>
<p:tagLst xmlns:a="http://schemas.openxmlformats.org/drawingml/2006/main" xmlns:r="http://schemas.openxmlformats.org/officeDocument/2006/relationships" xmlns:p="http://schemas.openxmlformats.org/presentationml/2006/main">
  <p:tag name="AS_UNIQUEID" val="42"/>
</p:tagLst>
</file>

<file path=ppt/tags/tag6.xml><?xml version="1.0" encoding="utf-8"?>
<p:tagLst xmlns:a="http://schemas.openxmlformats.org/drawingml/2006/main" xmlns:r="http://schemas.openxmlformats.org/officeDocument/2006/relationships" xmlns:p="http://schemas.openxmlformats.org/presentationml/2006/main">
  <p:tag name="AS_UNIQUEID" val="43"/>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TotalTime>
  <Words>2433</Words>
  <Application>Microsoft Office PowerPoint</Application>
  <PresentationFormat>On-screen Show (4:3)</PresentationFormat>
  <Paragraphs>237</Paragraphs>
  <Slides>26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Gabriola</vt:lpstr>
      <vt:lpstr>Times New Roman</vt:lpstr>
      <vt:lpstr>Tw Cen MT</vt:lpstr>
      <vt:lpstr>Tw Cen MT Condensed</vt:lpstr>
      <vt:lpstr>Wingdings 3</vt:lpstr>
      <vt:lpstr>Integral</vt:lpstr>
      <vt:lpstr>PowerPoint Presentation</vt:lpstr>
      <vt:lpstr>OUTLINE</vt:lpstr>
      <vt:lpstr>Introduction[15]</vt:lpstr>
      <vt:lpstr>PowerPoint Presentation</vt:lpstr>
      <vt:lpstr>Literature Review </vt:lpstr>
      <vt:lpstr>Research Gap[1][3]</vt:lpstr>
      <vt:lpstr>Problem Statement</vt:lpstr>
      <vt:lpstr>TOOLS AND TECHNOLOGY</vt:lpstr>
      <vt:lpstr>Arima model[11]</vt:lpstr>
      <vt:lpstr>Comparing the R2 Value</vt:lpstr>
      <vt:lpstr>PowerPoint Presentation</vt:lpstr>
      <vt:lpstr>Data Set Description[5]</vt:lpstr>
      <vt:lpstr>Project Flow Chart</vt:lpstr>
      <vt:lpstr>Implementation with Results[17] </vt:lpstr>
      <vt:lpstr>Implementation[17]</vt:lpstr>
      <vt:lpstr>PowerPoint Presentation</vt:lpstr>
      <vt:lpstr>Exploratory Data Analysis[5]</vt:lpstr>
      <vt:lpstr>  </vt:lpstr>
      <vt:lpstr>   </vt:lpstr>
      <vt:lpstr>  </vt:lpstr>
      <vt:lpstr>Correlation between target and features[17]</vt:lpstr>
      <vt:lpstr>Observations from the heating map:</vt:lpstr>
      <vt:lpstr>PowerPoint Presentation</vt:lpstr>
      <vt:lpstr>References</vt:lpstr>
      <vt:lpstr>Web References </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ON  BIOMETRIC SECURITY SYSTEMS</dc:title>
  <dc:creator>charmy</dc:creator>
  <cp:lastModifiedBy>admin</cp:lastModifiedBy>
  <cp:revision>721</cp:revision>
  <dcterms:created xsi:type="dcterms:W3CDTF">2005-10-02T14:03:00Z</dcterms:created>
  <dcterms:modified xsi:type="dcterms:W3CDTF">2026-08-12T11:12:16Z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1033-11.2.0.11486</vt:lpwstr>
  </property>
  <property fmtid="{D5CDD505-2E9C-101B-9397-08002B2CF9AE}" pid="3" name="ICV">
    <vt:lpwstr>C10C3B732A5D4AB48367BEBFD5F0212D</vt:lpwstr>
  </property>
</Properties>
</file>