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media/image9.jpg" ContentType="image/jpeg"/>
  <Override PartName="/ppt/media/image10.jpg" ContentType="image/jpeg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1.xml" ContentType="application/vnd.openxmlformats-officedocument.drawingml.chart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  <p:sldMasterId id="2147483670" r:id="rId3"/>
    <p:sldMasterId id="2147483668" r:id="rId4"/>
    <p:sldMasterId id="2147483666" r:id="rId5"/>
    <p:sldMasterId id="2147483672" r:id="rId6"/>
  </p:sldMasterIdLst>
  <p:notesMasterIdLst>
    <p:notesMasterId r:id="rId44"/>
  </p:notesMasterIdLst>
  <p:handoutMasterIdLst>
    <p:handoutMasterId r:id="rId45"/>
  </p:handoutMasterIdLst>
  <p:sldIdLst>
    <p:sldId id="280" r:id="rId7"/>
    <p:sldId id="281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82" r:id="rId29"/>
    <p:sldId id="283" r:id="rId30"/>
    <p:sldId id="279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77" r:id="rId42"/>
    <p:sldId id="278" r:id="rId4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1122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/ Quality (%)</c:v>
                </c:pt>
              </c:strCache>
            </c:strRef>
          </c:tx>
          <c:spPr>
            <a:solidFill>
              <a:srgbClr val="7B2D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F1B-4C22-BB0A-BD4779ABD635}"/>
              </c:ext>
            </c:extLst>
          </c:dPt>
          <c:dPt>
            <c:idx val="1"/>
            <c:invertIfNegative val="0"/>
            <c:bubble3D val="0"/>
            <c:spPr>
              <a:solidFill>
                <a:srgbClr val="1A6B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1B-4C22-BB0A-BD4779ABD635}"/>
              </c:ext>
            </c:extLst>
          </c:dPt>
          <c:dPt>
            <c:idx val="2"/>
            <c:invertIfNegative val="0"/>
            <c:bubble3D val="0"/>
            <c:spPr>
              <a:solidFill>
                <a:srgbClr val="2A7F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1B-4C22-BB0A-BD4779ABD635}"/>
              </c:ext>
            </c:extLst>
          </c:dPt>
          <c:dPt>
            <c:idx val="3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F1B-4C22-BB0A-BD4779ABD635}"/>
              </c:ext>
            </c:extLst>
          </c:dPt>
          <c:dPt>
            <c:idx val="4"/>
            <c:invertIfNegative val="0"/>
            <c:bubble3D val="0"/>
            <c:spPr>
              <a:solidFill>
                <a:srgbClr val="6A4C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F1B-4C22-BB0A-BD4779ABD635}"/>
              </c:ext>
            </c:extLst>
          </c:dPt>
          <c:dPt>
            <c:idx val="5"/>
            <c:invertIfNegative val="0"/>
            <c:bubble3D val="0"/>
            <c:spPr>
              <a:solidFill>
                <a:srgbClr val="B03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F1B-4C22-BB0A-BD4779ABD635}"/>
              </c:ext>
            </c:extLst>
          </c:dPt>
          <c:dPt>
            <c:idx val="6"/>
            <c:invertIfNegative val="0"/>
            <c:bubble3D val="0"/>
            <c:spPr>
              <a:solidFill>
                <a:srgbClr val="1A1F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F1B-4C22-BB0A-BD4779ABD635}"/>
              </c:ext>
            </c:extLst>
          </c:dPt>
          <c:dPt>
            <c:idx val="7"/>
            <c:invertIfNegative val="0"/>
            <c:bubble3D val="0"/>
            <c:spPr>
              <a:solidFill>
                <a:srgbClr val="2A7F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F1B-4C22-BB0A-BD4779ABD635}"/>
              </c:ext>
            </c:extLst>
          </c:dPt>
          <c:dPt>
            <c:idx val="8"/>
            <c:invertIfNegative val="0"/>
            <c:bubble3D val="0"/>
            <c:spPr>
              <a:solidFill>
                <a:srgbClr val="1E6B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F1B-4C22-BB0A-BD4779ABD635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0F1B-4C22-BB0A-BD4779ABD63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Brain-to-AI Training</c:v>
                </c:pt>
                <c:pt idx="1">
                  <c:v>Voice Cloning</c:v>
                </c:pt>
                <c:pt idx="2">
                  <c:v>Semantic Search</c:v>
                </c:pt>
                <c:pt idx="3">
                  <c:v>Famous Personalities</c:v>
                </c:pt>
                <c:pt idx="4">
                  <c:v>Multi-file Ingestion</c:v>
                </c:pt>
                <c:pt idx="5">
                  <c:v>Interview System</c:v>
                </c:pt>
                <c:pt idx="6">
                  <c:v>Model History</c:v>
                </c:pt>
                <c:pt idx="7">
                  <c:v>Mix Response Style</c:v>
                </c:pt>
                <c:pt idx="8">
                  <c:v>Ethics Controls</c:v>
                </c:pt>
                <c:pt idx="9">
                  <c:v>Anti-Hallucination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90</c:v>
                </c:pt>
                <c:pt idx="1">
                  <c:v>88</c:v>
                </c:pt>
                <c:pt idx="2">
                  <c:v>95</c:v>
                </c:pt>
                <c:pt idx="3">
                  <c:v>100</c:v>
                </c:pt>
                <c:pt idx="4">
                  <c:v>92</c:v>
                </c:pt>
                <c:pt idx="5">
                  <c:v>88</c:v>
                </c:pt>
                <c:pt idx="6">
                  <c:v>85</c:v>
                </c:pt>
                <c:pt idx="7">
                  <c:v>92</c:v>
                </c:pt>
                <c:pt idx="8">
                  <c:v>95</c:v>
                </c:pt>
                <c:pt idx="9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F1B-4C22-BB0A-BD4779ABD6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1E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15A1B-0FCB-47E2-9AFD-A4B99918265E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ACCCCF-73C4-428D-AC98-9AB74AEEC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64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C5E27-3CB5-430E-B5C1-BCF3819D56D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B2AC00-45DE-44D6-8DCE-6185C1D3C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165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3.xml"/><Relationship Id="rId7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696363"/>
                </a:solidFill>
                <a:latin typeface="Perpetua"/>
                <a:cs typeface="Perpetua"/>
              </a:rPr>
              <a:t>13</a:t>
            </a:r>
            <a:r>
              <a:rPr sz="1400" spc="-25" dirty="0">
                <a:solidFill>
                  <a:srgbClr val="696363"/>
                </a:solidFill>
                <a:latin typeface="Perpetua"/>
                <a:cs typeface="Perpetua"/>
              </a:rPr>
              <a:t> 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D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c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m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be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r 2016</a:t>
            </a:r>
            <a:endParaRPr sz="1400">
              <a:latin typeface="Perpetua"/>
              <a:cs typeface="Perpetu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lang="en-US" sz="1400">
                <a:solidFill>
                  <a:srgbClr val="696363"/>
                </a:solidFill>
                <a:latin typeface="Perpetua"/>
                <a:cs typeface="Perpetua"/>
              </a:rPr>
              <a:t>Prof. Jignesh Patoliya (CHARUSAT)</a:t>
            </a:r>
            <a:endParaRPr sz="1400">
              <a:latin typeface="Perpetua"/>
              <a:cs typeface="Perpetu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76835">
              <a:lnSpc>
                <a:spcPct val="100000"/>
              </a:lnSpc>
            </a:pPr>
            <a:fld id="{81D60167-4931-47E6-BA6A-407CBD079E47}" type="slidenum">
              <a:rPr sz="1400" dirty="0" smtClean="0">
                <a:solidFill>
                  <a:srgbClr val="FFFFFF"/>
                </a:solidFill>
                <a:latin typeface="Franklin Gothic Book"/>
                <a:cs typeface="Franklin Gothic Book"/>
              </a:rPr>
              <a:t>‹#›</a:t>
            </a:fld>
            <a:endParaRPr sz="14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3500" y="69850"/>
            <a:ext cx="9013825" cy="6692898"/>
          </a:xfrm>
          <a:custGeom>
            <a:avLst/>
            <a:gdLst/>
            <a:ahLst/>
            <a:cxnLst/>
            <a:rect l="l" t="t" r="r" b="b"/>
            <a:pathLst>
              <a:path w="9013825" h="6692898">
                <a:moveTo>
                  <a:pt x="0" y="329946"/>
                </a:moveTo>
                <a:lnTo>
                  <a:pt x="4317" y="276421"/>
                </a:lnTo>
                <a:lnTo>
                  <a:pt x="16818" y="225649"/>
                </a:lnTo>
                <a:lnTo>
                  <a:pt x="36822" y="178307"/>
                </a:lnTo>
                <a:lnTo>
                  <a:pt x="63651" y="135075"/>
                </a:lnTo>
                <a:lnTo>
                  <a:pt x="96624" y="96631"/>
                </a:lnTo>
                <a:lnTo>
                  <a:pt x="135064" y="63654"/>
                </a:lnTo>
                <a:lnTo>
                  <a:pt x="178290" y="36824"/>
                </a:lnTo>
                <a:lnTo>
                  <a:pt x="225623" y="16818"/>
                </a:lnTo>
                <a:lnTo>
                  <a:pt x="276384" y="4317"/>
                </a:lnTo>
                <a:lnTo>
                  <a:pt x="329895" y="0"/>
                </a:lnTo>
                <a:lnTo>
                  <a:pt x="8683879" y="0"/>
                </a:lnTo>
                <a:lnTo>
                  <a:pt x="8737403" y="4317"/>
                </a:lnTo>
                <a:lnTo>
                  <a:pt x="8788175" y="16818"/>
                </a:lnTo>
                <a:lnTo>
                  <a:pt x="8835517" y="36824"/>
                </a:lnTo>
                <a:lnTo>
                  <a:pt x="8878749" y="63654"/>
                </a:lnTo>
                <a:lnTo>
                  <a:pt x="8917193" y="96631"/>
                </a:lnTo>
                <a:lnTo>
                  <a:pt x="8950170" y="135075"/>
                </a:lnTo>
                <a:lnTo>
                  <a:pt x="8977000" y="178307"/>
                </a:lnTo>
                <a:lnTo>
                  <a:pt x="8997006" y="225649"/>
                </a:lnTo>
                <a:lnTo>
                  <a:pt x="9009507" y="276421"/>
                </a:lnTo>
                <a:lnTo>
                  <a:pt x="9013825" y="329946"/>
                </a:lnTo>
                <a:lnTo>
                  <a:pt x="9013825" y="6363004"/>
                </a:lnTo>
                <a:lnTo>
                  <a:pt x="9009507" y="6416515"/>
                </a:lnTo>
                <a:lnTo>
                  <a:pt x="8997006" y="6467276"/>
                </a:lnTo>
                <a:lnTo>
                  <a:pt x="8977000" y="6514609"/>
                </a:lnTo>
                <a:lnTo>
                  <a:pt x="8950170" y="6557835"/>
                </a:lnTo>
                <a:lnTo>
                  <a:pt x="8917193" y="6596274"/>
                </a:lnTo>
                <a:lnTo>
                  <a:pt x="8878749" y="6629247"/>
                </a:lnTo>
                <a:lnTo>
                  <a:pt x="8835517" y="6656076"/>
                </a:lnTo>
                <a:lnTo>
                  <a:pt x="8788175" y="6676080"/>
                </a:lnTo>
                <a:lnTo>
                  <a:pt x="8737403" y="6688580"/>
                </a:lnTo>
                <a:lnTo>
                  <a:pt x="8683879" y="6692898"/>
                </a:lnTo>
                <a:lnTo>
                  <a:pt x="329895" y="6692898"/>
                </a:lnTo>
                <a:lnTo>
                  <a:pt x="276384" y="6688580"/>
                </a:lnTo>
                <a:lnTo>
                  <a:pt x="225623" y="6676080"/>
                </a:lnTo>
                <a:lnTo>
                  <a:pt x="178290" y="6656076"/>
                </a:lnTo>
                <a:lnTo>
                  <a:pt x="135064" y="6629247"/>
                </a:lnTo>
                <a:lnTo>
                  <a:pt x="96624" y="6596274"/>
                </a:lnTo>
                <a:lnTo>
                  <a:pt x="63651" y="6557835"/>
                </a:lnTo>
                <a:lnTo>
                  <a:pt x="36822" y="6514609"/>
                </a:lnTo>
                <a:lnTo>
                  <a:pt x="16818" y="6467276"/>
                </a:lnTo>
                <a:lnTo>
                  <a:pt x="4317" y="6416515"/>
                </a:lnTo>
                <a:lnTo>
                  <a:pt x="0" y="6363004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924800" y="179451"/>
            <a:ext cx="990600" cy="99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077325" cy="10765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696363"/>
                </a:solidFill>
                <a:latin typeface="Perpetua"/>
                <a:cs typeface="Perpetua"/>
              </a:rPr>
              <a:t>13</a:t>
            </a:r>
            <a:r>
              <a:rPr sz="1400" spc="-25" dirty="0">
                <a:solidFill>
                  <a:srgbClr val="696363"/>
                </a:solidFill>
                <a:latin typeface="Perpetua"/>
                <a:cs typeface="Perpetua"/>
              </a:rPr>
              <a:t> 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D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c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m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be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r 2016</a:t>
            </a:r>
            <a:endParaRPr sz="1400">
              <a:latin typeface="Perpetua"/>
              <a:cs typeface="Perpetu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lang="en-US" sz="1400">
                <a:solidFill>
                  <a:srgbClr val="696363"/>
                </a:solidFill>
                <a:latin typeface="Perpetua"/>
                <a:cs typeface="Perpetua"/>
              </a:rPr>
              <a:t>Prof. Jignesh Patoliya (CHARUSAT)</a:t>
            </a:r>
            <a:endParaRPr sz="1400">
              <a:latin typeface="Perpetua"/>
              <a:cs typeface="Perpetu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76835">
              <a:lnSpc>
                <a:spcPct val="100000"/>
              </a:lnSpc>
            </a:pPr>
            <a:fld id="{81D60167-4931-47E6-BA6A-407CBD079E47}" type="slidenum">
              <a:rPr sz="1400" dirty="0" smtClean="0">
                <a:solidFill>
                  <a:srgbClr val="FFFFFF"/>
                </a:solidFill>
                <a:latin typeface="Franklin Gothic Book"/>
                <a:cs typeface="Franklin Gothic Book"/>
              </a:rPr>
              <a:t>‹#›</a:t>
            </a:fld>
            <a:endParaRPr sz="1400">
              <a:latin typeface="Franklin Gothic Book"/>
              <a:cs typeface="Franklin Gothic Book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9901844"/>
              </p:ext>
            </p:extLst>
          </p:nvPr>
        </p:nvGraphicFramePr>
        <p:xfrm>
          <a:off x="0" y="435610"/>
          <a:ext cx="9144000" cy="640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9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696363"/>
                </a:solidFill>
                <a:latin typeface="Perpetua"/>
                <a:cs typeface="Perpetua"/>
              </a:rPr>
              <a:t>13</a:t>
            </a:r>
            <a:r>
              <a:rPr sz="1400" spc="-25" dirty="0">
                <a:solidFill>
                  <a:srgbClr val="696363"/>
                </a:solidFill>
                <a:latin typeface="Perpetua"/>
                <a:cs typeface="Perpetua"/>
              </a:rPr>
              <a:t> 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D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c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m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be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r 2016</a:t>
            </a:r>
            <a:endParaRPr sz="1400">
              <a:latin typeface="Perpetua"/>
              <a:cs typeface="Perpetu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lang="en-US" sz="1400">
                <a:solidFill>
                  <a:srgbClr val="696363"/>
                </a:solidFill>
                <a:latin typeface="Perpetua"/>
                <a:cs typeface="Perpetua"/>
              </a:rPr>
              <a:t>Prof. Jignesh Patoliya (CHARUSAT)</a:t>
            </a:r>
            <a:endParaRPr sz="1400">
              <a:latin typeface="Perpetua"/>
              <a:cs typeface="Perpetua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76835">
              <a:lnSpc>
                <a:spcPct val="100000"/>
              </a:lnSpc>
            </a:pPr>
            <a:fld id="{81D60167-4931-47E6-BA6A-407CBD079E47}" type="slidenum">
              <a:rPr sz="1400" dirty="0" smtClean="0">
                <a:solidFill>
                  <a:srgbClr val="FFFFFF"/>
                </a:solidFill>
                <a:latin typeface="Franklin Gothic Book"/>
                <a:cs typeface="Franklin Gothic Book"/>
              </a:rPr>
              <a:t>‹#›</a:t>
            </a:fld>
            <a:endParaRPr sz="14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696363"/>
                </a:solidFill>
                <a:latin typeface="Perpetua"/>
                <a:cs typeface="Perpetua"/>
              </a:rPr>
              <a:t>13</a:t>
            </a:r>
            <a:r>
              <a:rPr sz="1400" spc="-25" dirty="0">
                <a:solidFill>
                  <a:srgbClr val="696363"/>
                </a:solidFill>
                <a:latin typeface="Perpetua"/>
                <a:cs typeface="Perpetua"/>
              </a:rPr>
              <a:t> 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D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c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m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be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r 2016</a:t>
            </a:r>
            <a:endParaRPr sz="1400">
              <a:latin typeface="Perpetua"/>
              <a:cs typeface="Perpetua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lang="en-US" sz="1400">
                <a:solidFill>
                  <a:srgbClr val="696363"/>
                </a:solidFill>
                <a:latin typeface="Perpetua"/>
                <a:cs typeface="Perpetua"/>
              </a:rPr>
              <a:t>Prof. Jignesh Patoliya (CHARUSAT)</a:t>
            </a:r>
            <a:endParaRPr sz="1400">
              <a:latin typeface="Perpetua"/>
              <a:cs typeface="Perpetu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76835">
              <a:lnSpc>
                <a:spcPct val="100000"/>
              </a:lnSpc>
            </a:pPr>
            <a:fld id="{81D60167-4931-47E6-BA6A-407CBD079E47}" type="slidenum">
              <a:rPr sz="1400" dirty="0" smtClean="0">
                <a:solidFill>
                  <a:srgbClr val="FFFFFF"/>
                </a:solidFill>
                <a:latin typeface="Franklin Gothic Book"/>
                <a:cs typeface="Franklin Gothic Book"/>
              </a:rPr>
              <a:t>‹#›</a:t>
            </a:fld>
            <a:endParaRPr sz="14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36912" y="29094"/>
            <a:ext cx="8769927" cy="5565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6625" y="6201294"/>
            <a:ext cx="590203" cy="5860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62345" y="340821"/>
            <a:ext cx="0" cy="6188826"/>
          </a:xfrm>
          <a:custGeom>
            <a:avLst/>
            <a:gdLst/>
            <a:ahLst/>
            <a:cxnLst/>
            <a:rect l="l" t="t" r="r" b="b"/>
            <a:pathLst>
              <a:path h="6188826">
                <a:moveTo>
                  <a:pt x="0" y="6188826"/>
                </a:moveTo>
                <a:lnTo>
                  <a:pt x="0" y="0"/>
                </a:lnTo>
              </a:path>
            </a:pathLst>
          </a:custGeom>
          <a:ln w="83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9077497" y="332509"/>
            <a:ext cx="0" cy="6163887"/>
          </a:xfrm>
          <a:custGeom>
            <a:avLst/>
            <a:gdLst/>
            <a:ahLst/>
            <a:cxnLst/>
            <a:rect l="l" t="t" r="r" b="b"/>
            <a:pathLst>
              <a:path h="6163887">
                <a:moveTo>
                  <a:pt x="0" y="6163887"/>
                </a:moveTo>
                <a:lnTo>
                  <a:pt x="0" y="0"/>
                </a:lnTo>
              </a:path>
            </a:pathLst>
          </a:custGeom>
          <a:ln w="83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290945" y="6762403"/>
            <a:ext cx="8524702" cy="0"/>
          </a:xfrm>
          <a:custGeom>
            <a:avLst/>
            <a:gdLst/>
            <a:ahLst/>
            <a:cxnLst/>
            <a:rect l="l" t="t" r="r" b="b"/>
            <a:pathLst>
              <a:path w="8524702">
                <a:moveTo>
                  <a:pt x="0" y="0"/>
                </a:moveTo>
                <a:lnTo>
                  <a:pt x="8524702" y="0"/>
                </a:lnTo>
              </a:path>
            </a:pathLst>
          </a:custGeom>
          <a:ln w="8312">
            <a:solidFill>
              <a:srgbClr val="18181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696363"/>
                </a:solidFill>
                <a:latin typeface="Perpetua"/>
                <a:cs typeface="Perpetua"/>
              </a:rPr>
              <a:t>13</a:t>
            </a:r>
            <a:r>
              <a:rPr sz="1400" spc="-25" dirty="0">
                <a:solidFill>
                  <a:srgbClr val="696363"/>
                </a:solidFill>
                <a:latin typeface="Perpetua"/>
                <a:cs typeface="Perpetua"/>
              </a:rPr>
              <a:t> 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D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c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m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be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r 2016</a:t>
            </a:r>
            <a:endParaRPr sz="1400">
              <a:latin typeface="Perpetua"/>
              <a:cs typeface="Perpetua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lang="en-US" sz="1400">
                <a:solidFill>
                  <a:srgbClr val="696363"/>
                </a:solidFill>
                <a:latin typeface="Perpetua"/>
                <a:cs typeface="Perpetua"/>
              </a:rPr>
              <a:t>Prof. Jignesh Patoliya (CHARUSAT)</a:t>
            </a:r>
            <a:endParaRPr sz="1400">
              <a:latin typeface="Perpetua"/>
              <a:cs typeface="Perpetua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76835">
              <a:lnSpc>
                <a:spcPct val="100000"/>
              </a:lnSpc>
            </a:pPr>
            <a:fld id="{81D60167-4931-47E6-BA6A-407CBD079E47}" type="slidenum">
              <a:rPr sz="1400" dirty="0" smtClean="0">
                <a:solidFill>
                  <a:srgbClr val="FFFFFF"/>
                </a:solidFill>
                <a:latin typeface="Franklin Gothic Book"/>
                <a:cs typeface="Franklin Gothic Book"/>
              </a:rPr>
              <a:t>‹#›</a:t>
            </a:fld>
            <a:endParaRPr sz="1400">
              <a:latin typeface="Franklin Gothic Book"/>
              <a:cs typeface="Franklin Gothic Book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jec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14862E84-E099-4846-9153-FBA2AA2EFC07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6675"/>
            <a:ext cx="9144000" cy="689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A4E1CE5-7120-48F5-900E-ECDA725A8803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033" y="436166"/>
            <a:ext cx="1785938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26">
            <a:extLst>
              <a:ext uri="{FF2B5EF4-FFF2-40B4-BE49-F238E27FC236}">
                <a16:creationId xmlns:a16="http://schemas.microsoft.com/office/drawing/2014/main" id="{D23C3C06-9C01-4D4C-ACCA-5DE2A7D70824}"/>
              </a:ext>
            </a:extLst>
          </p:cNvPr>
          <p:cNvGrpSpPr>
            <a:grpSpLocks/>
          </p:cNvGrpSpPr>
          <p:nvPr/>
        </p:nvGrpSpPr>
        <p:grpSpPr bwMode="auto">
          <a:xfrm>
            <a:off x="1566078" y="2230968"/>
            <a:ext cx="5916304" cy="72028"/>
            <a:chOff x="1428728" y="2571744"/>
            <a:chExt cx="6309404" cy="94298"/>
          </a:xfrm>
        </p:grpSpPr>
        <p:sp>
          <p:nvSpPr>
            <p:cNvPr id="8" name="Straight Connector 8">
              <a:extLst>
                <a:ext uri="{FF2B5EF4-FFF2-40B4-BE49-F238E27FC236}">
                  <a16:creationId xmlns:a16="http://schemas.microsoft.com/office/drawing/2014/main" id="{E8BECC93-9948-4DBD-B8FE-79060024132E}"/>
                </a:ext>
              </a:extLst>
            </p:cNvPr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1428728" y="2618094"/>
              <a:ext cx="6287177" cy="1598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Oval 24">
              <a:extLst>
                <a:ext uri="{FF2B5EF4-FFF2-40B4-BE49-F238E27FC236}">
                  <a16:creationId xmlns:a16="http://schemas.microsoft.com/office/drawing/2014/main" id="{1D284A81-83EC-4125-A970-09ECD760A141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 flipH="1" flipV="1">
              <a:off x="1428728" y="2571744"/>
              <a:ext cx="93672" cy="9429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" name="Oval 25">
              <a:extLst>
                <a:ext uri="{FF2B5EF4-FFF2-40B4-BE49-F238E27FC236}">
                  <a16:creationId xmlns:a16="http://schemas.microsoft.com/office/drawing/2014/main" id="{CB28A0B2-86A6-4473-B873-DF188CF290B8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 flipH="1" flipV="1">
              <a:off x="7644459" y="2571744"/>
              <a:ext cx="93673" cy="9429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6412041-3DFA-433B-B1E1-B42F3173DB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1" y="1335617"/>
            <a:ext cx="7591425" cy="817563"/>
          </a:xfrm>
        </p:spPr>
        <p:txBody>
          <a:bodyPr anchor="ctr">
            <a:normAutofit/>
          </a:bodyPr>
          <a:lstStyle>
            <a:lvl1pPr algn="ctr">
              <a:defRPr sz="3600" b="1"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Subject title with Code</a:t>
            </a:r>
            <a:endParaRPr lang="en-IN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9A99883-2662-4D52-9A55-BD1CE4E1B47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76339" y="2441589"/>
            <a:ext cx="6762751" cy="417778"/>
          </a:xfrm>
        </p:spPr>
        <p:txBody>
          <a:bodyPr anchor="ctr"/>
          <a:lstStyle>
            <a:lvl1pPr marL="0" indent="0" algn="ctr">
              <a:buNone/>
              <a:defRPr sz="22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ADD your Name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6C2D3B8-6A54-4440-A9C2-001B86D885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6339" y="2895600"/>
            <a:ext cx="6762751" cy="876300"/>
          </a:xfr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2200"/>
            </a:lvl1pPr>
          </a:lstStyle>
          <a:p>
            <a:pPr lvl="0"/>
            <a:r>
              <a:rPr lang="en-US" dirty="0"/>
              <a:t>Designation and Department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81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040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4"/>
          <p:cNvSpPr txBox="1">
            <a:spLocks noGrp="1"/>
          </p:cNvSpPr>
          <p:nvPr>
            <p:ph type="title"/>
          </p:nvPr>
        </p:nvSpPr>
        <p:spPr>
          <a:xfrm>
            <a:off x="0" y="948007"/>
            <a:ext cx="9144000" cy="730355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304"/>
          <p:cNvSpPr txBox="1">
            <a:spLocks noGrp="1"/>
          </p:cNvSpPr>
          <p:nvPr>
            <p:ph type="body" idx="1"/>
          </p:nvPr>
        </p:nvSpPr>
        <p:spPr>
          <a:xfrm>
            <a:off x="628652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1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04"/>
          <p:cNvSpPr txBox="1">
            <a:spLocks noGrp="1"/>
          </p:cNvSpPr>
          <p:nvPr>
            <p:ph type="sldNum" idx="12"/>
          </p:nvPr>
        </p:nvSpPr>
        <p:spPr>
          <a:xfrm>
            <a:off x="6467475" y="6483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4929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4"/>
          <p:cNvSpPr txBox="1">
            <a:spLocks noGrp="1"/>
          </p:cNvSpPr>
          <p:nvPr>
            <p:ph type="title"/>
          </p:nvPr>
        </p:nvSpPr>
        <p:spPr>
          <a:xfrm>
            <a:off x="0" y="948007"/>
            <a:ext cx="9144000" cy="730355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304"/>
          <p:cNvSpPr txBox="1">
            <a:spLocks noGrp="1"/>
          </p:cNvSpPr>
          <p:nvPr>
            <p:ph type="body" idx="1"/>
          </p:nvPr>
        </p:nvSpPr>
        <p:spPr>
          <a:xfrm>
            <a:off x="628652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1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04"/>
          <p:cNvSpPr txBox="1">
            <a:spLocks noGrp="1"/>
          </p:cNvSpPr>
          <p:nvPr>
            <p:ph type="sldNum" idx="12"/>
          </p:nvPr>
        </p:nvSpPr>
        <p:spPr>
          <a:xfrm>
            <a:off x="6467475" y="6483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391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4"/>
          <p:cNvSpPr txBox="1">
            <a:spLocks noGrp="1"/>
          </p:cNvSpPr>
          <p:nvPr>
            <p:ph type="title"/>
          </p:nvPr>
        </p:nvSpPr>
        <p:spPr>
          <a:xfrm>
            <a:off x="0" y="948007"/>
            <a:ext cx="9144000" cy="730355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304"/>
          <p:cNvSpPr txBox="1">
            <a:spLocks noGrp="1"/>
          </p:cNvSpPr>
          <p:nvPr>
            <p:ph type="body" idx="1"/>
          </p:nvPr>
        </p:nvSpPr>
        <p:spPr>
          <a:xfrm>
            <a:off x="628652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1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04"/>
          <p:cNvSpPr txBox="1">
            <a:spLocks noGrp="1"/>
          </p:cNvSpPr>
          <p:nvPr>
            <p:ph type="sldNum" idx="12"/>
          </p:nvPr>
        </p:nvSpPr>
        <p:spPr>
          <a:xfrm>
            <a:off x="6467475" y="6483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148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4"/>
          <p:cNvSpPr txBox="1">
            <a:spLocks noGrp="1"/>
          </p:cNvSpPr>
          <p:nvPr>
            <p:ph type="title"/>
          </p:nvPr>
        </p:nvSpPr>
        <p:spPr>
          <a:xfrm>
            <a:off x="0" y="948007"/>
            <a:ext cx="9144000" cy="730355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304"/>
          <p:cNvSpPr txBox="1">
            <a:spLocks noGrp="1"/>
          </p:cNvSpPr>
          <p:nvPr>
            <p:ph type="body" idx="1"/>
          </p:nvPr>
        </p:nvSpPr>
        <p:spPr>
          <a:xfrm>
            <a:off x="628652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1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04"/>
          <p:cNvSpPr txBox="1">
            <a:spLocks noGrp="1"/>
          </p:cNvSpPr>
          <p:nvPr>
            <p:ph type="sldNum" idx="12"/>
          </p:nvPr>
        </p:nvSpPr>
        <p:spPr>
          <a:xfrm>
            <a:off x="6467475" y="6483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8930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E9EA-F6FB-4FF8-955A-0624328F15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A38D-0431-4681-AD9F-3E0427381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76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E9EA-F6FB-4FF8-955A-0624328F15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A38D-0431-4681-AD9F-3E0427381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603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E9EA-F6FB-4FF8-955A-0624328F15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A38D-0431-4681-AD9F-3E0427381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73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E9EA-F6FB-4FF8-955A-0624328F15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A38D-0431-4681-AD9F-3E0427381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29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E9EA-F6FB-4FF8-955A-0624328F15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A38D-0431-4681-AD9F-3E0427381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93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E9EA-F6FB-4FF8-955A-0624328F15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A38D-0431-4681-AD9F-3E0427381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84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E9EA-F6FB-4FF8-955A-0624328F15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A38D-0431-4681-AD9F-3E0427381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683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E9EA-F6FB-4FF8-955A-0624328F15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A38D-0431-4681-AD9F-3E0427381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159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E9EA-F6FB-4FF8-955A-0624328F15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A38D-0431-4681-AD9F-3E0427381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977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E9EA-F6FB-4FF8-955A-0624328F15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A38D-0431-4681-AD9F-3E0427381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932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E9EA-F6FB-4FF8-955A-0624328F15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A38D-0431-4681-AD9F-3E0427381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9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6598" y="435609"/>
            <a:ext cx="7930803" cy="47352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2518" y="1595373"/>
            <a:ext cx="8118963" cy="197850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23282" y="6319058"/>
            <a:ext cx="1241273" cy="19486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696363"/>
                </a:solidFill>
                <a:latin typeface="Perpetua"/>
                <a:cs typeface="Perpetua"/>
              </a:rPr>
              <a:t>13</a:t>
            </a:r>
            <a:r>
              <a:rPr sz="1400" spc="-25" dirty="0">
                <a:solidFill>
                  <a:srgbClr val="696363"/>
                </a:solidFill>
                <a:latin typeface="Perpetua"/>
                <a:cs typeface="Perpetua"/>
              </a:rPr>
              <a:t> 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D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c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m</a:t>
            </a:r>
            <a:r>
              <a:rPr sz="1400" spc="-10" dirty="0">
                <a:solidFill>
                  <a:srgbClr val="696363"/>
                </a:solidFill>
                <a:latin typeface="Perpetua"/>
                <a:cs typeface="Perpetua"/>
              </a:rPr>
              <a:t>be</a:t>
            </a:r>
            <a:r>
              <a:rPr sz="1400" spc="0" dirty="0">
                <a:solidFill>
                  <a:srgbClr val="696363"/>
                </a:solidFill>
                <a:latin typeface="Perpetua"/>
                <a:cs typeface="Perpetua"/>
              </a:rPr>
              <a:t>r 2016</a:t>
            </a:r>
            <a:endParaRPr sz="1400">
              <a:latin typeface="Perpetua"/>
              <a:cs typeface="Perpetu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93139" y="6294120"/>
            <a:ext cx="2343352" cy="19486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700">
              <a:lnSpc>
                <a:spcPct val="100000"/>
              </a:lnSpc>
            </a:pPr>
            <a:r>
              <a:rPr lang="en-US" sz="1400">
                <a:solidFill>
                  <a:srgbClr val="696363"/>
                </a:solidFill>
                <a:latin typeface="Perpetua"/>
                <a:cs typeface="Perpetua"/>
              </a:rPr>
              <a:t>Prof. Jignesh Patoliya (CHARUSAT)</a:t>
            </a:r>
            <a:endParaRPr sz="1400">
              <a:latin typeface="Perpetua"/>
              <a:cs typeface="Perpetu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44347" y="6327851"/>
            <a:ext cx="261113" cy="22467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76835">
              <a:lnSpc>
                <a:spcPct val="100000"/>
              </a:lnSpc>
            </a:pPr>
            <a:fld id="{81D60167-4931-47E6-BA6A-407CBD079E47}" type="slidenum">
              <a:rPr sz="1400" dirty="0" smtClean="0">
                <a:solidFill>
                  <a:srgbClr val="FFFFFF"/>
                </a:solidFill>
                <a:latin typeface="Franklin Gothic Book"/>
                <a:cs typeface="Franklin Gothic Book"/>
              </a:rPr>
              <a:t>‹#›</a:t>
            </a:fld>
            <a:endParaRPr sz="1400">
              <a:latin typeface="Franklin Gothic Book"/>
              <a:cs typeface="Franklin Gothic Book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86" r:id="rId6"/>
    <p:sldLayoutId id="2147483687" r:id="rId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1"/>
          <p:cNvSpPr txBox="1">
            <a:spLocks noGrp="1"/>
          </p:cNvSpPr>
          <p:nvPr>
            <p:ph type="title"/>
          </p:nvPr>
        </p:nvSpPr>
        <p:spPr>
          <a:xfrm>
            <a:off x="104776" y="948007"/>
            <a:ext cx="8886825" cy="73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01"/>
          <p:cNvSpPr txBox="1">
            <a:spLocks noGrp="1"/>
          </p:cNvSpPr>
          <p:nvPr>
            <p:ph type="body" idx="1"/>
          </p:nvPr>
        </p:nvSpPr>
        <p:spPr>
          <a:xfrm>
            <a:off x="628652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01"/>
          <p:cNvSpPr txBox="1">
            <a:spLocks noGrp="1"/>
          </p:cNvSpPr>
          <p:nvPr>
            <p:ph type="sldNum" idx="12"/>
          </p:nvPr>
        </p:nvSpPr>
        <p:spPr>
          <a:xfrm>
            <a:off x="6467475" y="6483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301"/>
          <p:cNvCxnSpPr/>
          <p:nvPr/>
        </p:nvCxnSpPr>
        <p:spPr>
          <a:xfrm>
            <a:off x="0" y="839180"/>
            <a:ext cx="9144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" name="Google Shape;14;p301"/>
          <p:cNvCxnSpPr/>
          <p:nvPr/>
        </p:nvCxnSpPr>
        <p:spPr>
          <a:xfrm>
            <a:off x="0" y="6508750"/>
            <a:ext cx="9144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" name="Google Shape;15;p3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67" y="194657"/>
            <a:ext cx="872167" cy="479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94347" y="2290765"/>
            <a:ext cx="4073128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0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47401" y="102561"/>
            <a:ext cx="1309688" cy="727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0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965912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1"/>
          <p:cNvSpPr txBox="1">
            <a:spLocks noGrp="1"/>
          </p:cNvSpPr>
          <p:nvPr>
            <p:ph type="title"/>
          </p:nvPr>
        </p:nvSpPr>
        <p:spPr>
          <a:xfrm>
            <a:off x="104776" y="948007"/>
            <a:ext cx="8886825" cy="73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01"/>
          <p:cNvSpPr txBox="1">
            <a:spLocks noGrp="1"/>
          </p:cNvSpPr>
          <p:nvPr>
            <p:ph type="body" idx="1"/>
          </p:nvPr>
        </p:nvSpPr>
        <p:spPr>
          <a:xfrm>
            <a:off x="628652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01"/>
          <p:cNvSpPr txBox="1">
            <a:spLocks noGrp="1"/>
          </p:cNvSpPr>
          <p:nvPr>
            <p:ph type="sldNum" idx="12"/>
          </p:nvPr>
        </p:nvSpPr>
        <p:spPr>
          <a:xfrm>
            <a:off x="6467475" y="6483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  <p:cxnSp>
        <p:nvCxnSpPr>
          <p:cNvPr id="13" name="Google Shape;13;p301"/>
          <p:cNvCxnSpPr/>
          <p:nvPr/>
        </p:nvCxnSpPr>
        <p:spPr>
          <a:xfrm>
            <a:off x="0" y="839180"/>
            <a:ext cx="9144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" name="Google Shape;14;p301"/>
          <p:cNvCxnSpPr/>
          <p:nvPr/>
        </p:nvCxnSpPr>
        <p:spPr>
          <a:xfrm>
            <a:off x="0" y="6508750"/>
            <a:ext cx="9144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" name="Google Shape;15;p3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67" y="194657"/>
            <a:ext cx="872167" cy="479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94347" y="2290765"/>
            <a:ext cx="4073128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0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47401" y="102561"/>
            <a:ext cx="1309688" cy="727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0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512048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>
            <a:alpha val="0"/>
          </a:scheme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1"/>
          <p:cNvSpPr txBox="1">
            <a:spLocks noGrp="1"/>
          </p:cNvSpPr>
          <p:nvPr>
            <p:ph type="title"/>
          </p:nvPr>
        </p:nvSpPr>
        <p:spPr>
          <a:xfrm>
            <a:off x="104776" y="948007"/>
            <a:ext cx="8886825" cy="73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01"/>
          <p:cNvSpPr txBox="1">
            <a:spLocks noGrp="1"/>
          </p:cNvSpPr>
          <p:nvPr>
            <p:ph type="body" idx="1"/>
          </p:nvPr>
        </p:nvSpPr>
        <p:spPr>
          <a:xfrm>
            <a:off x="628652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01"/>
          <p:cNvSpPr txBox="1">
            <a:spLocks noGrp="1"/>
          </p:cNvSpPr>
          <p:nvPr>
            <p:ph type="sldNum" idx="12"/>
          </p:nvPr>
        </p:nvSpPr>
        <p:spPr>
          <a:xfrm>
            <a:off x="6467475" y="6483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301"/>
          <p:cNvCxnSpPr/>
          <p:nvPr/>
        </p:nvCxnSpPr>
        <p:spPr>
          <a:xfrm>
            <a:off x="0" y="839180"/>
            <a:ext cx="9144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" name="Google Shape;14;p301"/>
          <p:cNvCxnSpPr/>
          <p:nvPr/>
        </p:nvCxnSpPr>
        <p:spPr>
          <a:xfrm>
            <a:off x="0" y="6508750"/>
            <a:ext cx="9144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" name="Google Shape;15;p3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67" y="194657"/>
            <a:ext cx="872167" cy="479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94347" y="2290765"/>
            <a:ext cx="4073128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0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47401" y="102561"/>
            <a:ext cx="1309688" cy="727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0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664896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>
            <a:alpha val="0"/>
          </a:scheme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1"/>
          <p:cNvSpPr txBox="1">
            <a:spLocks noGrp="1"/>
          </p:cNvSpPr>
          <p:nvPr>
            <p:ph type="title"/>
          </p:nvPr>
        </p:nvSpPr>
        <p:spPr>
          <a:xfrm>
            <a:off x="104776" y="948007"/>
            <a:ext cx="8886825" cy="73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01"/>
          <p:cNvSpPr txBox="1">
            <a:spLocks noGrp="1"/>
          </p:cNvSpPr>
          <p:nvPr>
            <p:ph type="body" idx="1"/>
          </p:nvPr>
        </p:nvSpPr>
        <p:spPr>
          <a:xfrm>
            <a:off x="628652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01"/>
          <p:cNvSpPr txBox="1">
            <a:spLocks noGrp="1"/>
          </p:cNvSpPr>
          <p:nvPr>
            <p:ph type="sldNum" idx="12"/>
          </p:nvPr>
        </p:nvSpPr>
        <p:spPr>
          <a:xfrm>
            <a:off x="6467475" y="6483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301"/>
          <p:cNvCxnSpPr/>
          <p:nvPr/>
        </p:nvCxnSpPr>
        <p:spPr>
          <a:xfrm>
            <a:off x="0" y="839180"/>
            <a:ext cx="9144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" name="Google Shape;14;p301"/>
          <p:cNvCxnSpPr/>
          <p:nvPr/>
        </p:nvCxnSpPr>
        <p:spPr>
          <a:xfrm>
            <a:off x="0" y="6508750"/>
            <a:ext cx="9144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" name="Google Shape;15;p3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67" y="194657"/>
            <a:ext cx="872167" cy="479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94347" y="2290765"/>
            <a:ext cx="4073128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0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47401" y="102561"/>
            <a:ext cx="1309688" cy="727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0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60619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6E9EA-F6FB-4FF8-955A-0624328F15E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DA38D-0431-4681-AD9F-3E0427381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52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1176338" y="2511350"/>
            <a:ext cx="6762751" cy="417778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Project group number:-CSE_235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1176338" y="2819400"/>
            <a:ext cx="6762751" cy="876300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Computer Science Engineering</a:t>
            </a:r>
            <a:endParaRPr lang="en-IN" altLang="en-US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5" name="object 9"/>
          <p:cNvSpPr txBox="1"/>
          <p:nvPr/>
        </p:nvSpPr>
        <p:spPr>
          <a:xfrm>
            <a:off x="785180" y="1107827"/>
            <a:ext cx="7153909" cy="14744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38225" marR="12700" indent="-1026160" algn="ctr">
              <a:lnSpc>
                <a:spcPct val="100000"/>
              </a:lnSpc>
            </a:pPr>
            <a:r>
              <a:rPr lang="en-US" sz="2400" b="1" dirty="0" err="1">
                <a:latin typeface="Century Schoolbook"/>
                <a:cs typeface="Century Schoolbook"/>
              </a:rPr>
              <a:t>Chronus</a:t>
            </a:r>
            <a:r>
              <a:rPr lang="en-US" sz="2400" b="1" dirty="0">
                <a:latin typeface="Century Schoolbook"/>
                <a:cs typeface="Century Schoolbook"/>
              </a:rPr>
              <a:t>: A Memory-Trained Agentic AI for Human Knowledge and Mindset Simulation</a:t>
            </a:r>
            <a:r>
              <a:rPr lang="en-IN" sz="2400" b="1" dirty="0">
                <a:latin typeface="Century Schoolbook"/>
                <a:cs typeface="Century Schoolbook"/>
              </a:rPr>
              <a:t> </a:t>
            </a:r>
            <a:endParaRPr sz="2400" b="1" dirty="0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17955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7DE3E-9EED-9724-B2F6-5863E4B9A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219200"/>
            <a:ext cx="7591425" cy="857781"/>
          </a:xfrm>
        </p:spPr>
        <p:txBody>
          <a:bodyPr>
            <a:noAutofit/>
          </a:bodyPr>
          <a:lstStyle/>
          <a:p>
            <a:pPr>
              <a:spcBef>
                <a:spcPts val="1000"/>
              </a:spcBef>
            </a:pPr>
            <a:r>
              <a:rPr lang="en-IN" sz="2200" dirty="0">
                <a:ea typeface="+mn-ea"/>
                <a:cs typeface="+mn-cs"/>
              </a:rPr>
              <a:t>Project team :</a:t>
            </a:r>
            <a:br>
              <a:rPr lang="en-IN" sz="2200" dirty="0">
                <a:ea typeface="+mn-ea"/>
                <a:cs typeface="+mn-cs"/>
              </a:rPr>
            </a:br>
            <a:r>
              <a:rPr lang="en-IN" sz="2200" dirty="0">
                <a:ea typeface="+mn-ea"/>
                <a:cs typeface="+mn-cs"/>
              </a:rPr>
              <a:t>TIRTH SAKARIYA (2303031050723)</a:t>
            </a:r>
            <a:br>
              <a:rPr lang="en-IN" sz="2200" dirty="0">
                <a:ea typeface="+mn-ea"/>
                <a:cs typeface="+mn-cs"/>
              </a:rPr>
            </a:br>
            <a:r>
              <a:rPr lang="en-IN" sz="2200" dirty="0">
                <a:ea typeface="+mn-ea"/>
                <a:cs typeface="+mn-cs"/>
              </a:rPr>
              <a:t>MANAV AGHERA(2403031057168)</a:t>
            </a:r>
            <a:br>
              <a:rPr lang="en-IN" sz="2200" dirty="0">
                <a:ea typeface="+mn-ea"/>
                <a:cs typeface="+mn-cs"/>
              </a:rPr>
            </a:br>
            <a:r>
              <a:rPr lang="en-IN" sz="2200" dirty="0">
                <a:ea typeface="+mn-ea"/>
                <a:cs typeface="+mn-cs"/>
              </a:rPr>
              <a:t>MANISH PRAJAPATI (2303031050721)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490ED-67E6-63A4-DED6-1E1F9EA474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90624" y="2980742"/>
            <a:ext cx="6762751" cy="417778"/>
          </a:xfrm>
        </p:spPr>
        <p:txBody>
          <a:bodyPr/>
          <a:lstStyle/>
          <a:p>
            <a:r>
              <a:rPr lang="en-IN" dirty="0"/>
              <a:t>Guide Name: Prof. Shubham </a:t>
            </a:r>
            <a:r>
              <a:rPr lang="en-IN" dirty="0" err="1"/>
              <a:t>Upadyay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253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0402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625346"/>
            <a:ext cx="27614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25346"/>
            <a:ext cx="457200" cy="67665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789938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08226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Vision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2112" y="1625346"/>
            <a:ext cx="27614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1625346"/>
            <a:ext cx="457200" cy="676656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789938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30752" y="1808226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9904" y="1625346"/>
            <a:ext cx="27614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625346"/>
            <a:ext cx="457200" cy="6766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789938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38544" y="1808226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430018"/>
            <a:ext cx="27614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30018"/>
            <a:ext cx="457200" cy="676656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594610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261289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Workflow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82112" y="2430018"/>
            <a:ext cx="27614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2430018"/>
            <a:ext cx="457200" cy="67665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594610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30752" y="261289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Brain-to-AI Training Framework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9904" y="2430018"/>
            <a:ext cx="27614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9904" y="2430018"/>
            <a:ext cx="457200" cy="676656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2594610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38544" y="261289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Cloning &amp; Identity Engine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234690"/>
            <a:ext cx="27614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234690"/>
            <a:ext cx="457200" cy="676656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3399282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341757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182112" y="3234690"/>
            <a:ext cx="27614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82112" y="3234690"/>
            <a:ext cx="457200" cy="67665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3399282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730752" y="341757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&amp; Algorithms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89904" y="3234690"/>
            <a:ext cx="27614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89904" y="3234690"/>
            <a:ext cx="457200" cy="676656"/>
          </a:xfrm>
          <a:prstGeom prst="rect">
            <a:avLst/>
          </a:prstGeom>
          <a:solidFill>
            <a:srgbClr val="1E6B3A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08192" y="3399282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38544" y="341757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File Support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039362"/>
            <a:ext cx="27614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4039362"/>
            <a:ext cx="457200" cy="6766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" y="4203954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22960" y="422224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Famous Personality Models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182112" y="4039362"/>
            <a:ext cx="27614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182112" y="4039362"/>
            <a:ext cx="457200" cy="676656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0" y="4203954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730752" y="422224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&amp; Memory Augmentation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089904" y="4039362"/>
            <a:ext cx="27614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89904" y="4039362"/>
            <a:ext cx="457200" cy="676656"/>
          </a:xfrm>
          <a:prstGeom prst="rect">
            <a:avLst/>
          </a:prstGeom>
          <a:solidFill>
            <a:srgbClr val="B05A1A"/>
          </a:solidFill>
          <a:ln w="12700">
            <a:solidFill>
              <a:srgbClr val="B05A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08192" y="4203954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638544" y="422224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Ethics &amp; Privacy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74320" y="4844034"/>
            <a:ext cx="27614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74320" y="4844034"/>
            <a:ext cx="457200" cy="676656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" y="5008626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22960" y="5026914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Performance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182112" y="4844034"/>
            <a:ext cx="27614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182112" y="4844034"/>
            <a:ext cx="457200" cy="67665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0" y="5008626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3730752" y="5026914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Cases &amp; Applications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089904" y="4844034"/>
            <a:ext cx="27614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089904" y="4844034"/>
            <a:ext cx="457200" cy="676656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08192" y="5008626"/>
            <a:ext cx="429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638544" y="5026914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Roadmap</a:t>
            </a:r>
            <a:endParaRPr lang="en-US" sz="105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7E03E7A-8E58-CC2D-6289-C4992C665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52145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4305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0" b="1" dirty="0">
                <a:solidFill>
                  <a:srgbClr val="25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8605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Vision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CD1B9A-5485-5DC8-E66B-0F40AA9D1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— What is Chronus?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07058"/>
            <a:ext cx="8412480" cy="731520"/>
          </a:xfrm>
          <a:prstGeom prst="rect">
            <a:avLst/>
          </a:prstGeom>
          <a:solidFill>
            <a:srgbClr val="1A1F4E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192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i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Chronus is an agentic AI system that simulates the complete cognitive identity of a human — their knowledge, mindset, beliefs, communication style, voice, and personality — by training directly on their personal data, writings, and memories.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484882"/>
            <a:ext cx="276148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484882"/>
            <a:ext cx="64008" cy="11430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576322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Brain-to-AI Training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91465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writings, memories, and beliefs encoded into neural vector representations — mirroring how the brain stores knowledge.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73552" y="2484882"/>
            <a:ext cx="276148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2484882"/>
            <a:ext cx="64008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2576322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Famous Personality Models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38144" y="291465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8 historical figures using real writings, documented philosophy, and known communication styles.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1344" y="2484882"/>
            <a:ext cx="276148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2484882"/>
            <a:ext cx="64008" cy="11430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2576322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Identity Cloning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45936" y="291465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Replicates a person's actual voice using AI synthesis — responses delivered in their real tone, indistinguishable from the real human.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746754"/>
            <a:ext cx="276148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46754"/>
            <a:ext cx="64008" cy="11430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838194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Reasoning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4176522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beyond retrieval — reasons across memories, draws connections between topics, and answers questions the person never explicitly wrote about.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73552" y="3746754"/>
            <a:ext cx="276148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73552" y="3746754"/>
            <a:ext cx="64008" cy="114300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38144" y="3838194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Contribution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38144" y="4176522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contributors — family, friends, colleagues — answer guided interview questions to build a richer, multi-perspective model.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81344" y="3746754"/>
            <a:ext cx="276148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81344" y="3746754"/>
            <a:ext cx="64008" cy="114300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3838194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Persistence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45936" y="4176522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trained model is saved with full history. Resume any conversation with any relative or personality at any time.</a:t>
            </a:r>
            <a:endParaRPr lang="en-US" sz="10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0AD9E6-2273-02F5-BCA1-CE08BF30C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 — Scale of Impact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0705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irreplaceable human knowledge is permanently lost. Chronus exists to change that.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2155698"/>
            <a:ext cx="2633472" cy="123444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2265426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108B+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" y="277749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have ever lived on Earth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155698"/>
            <a:ext cx="2633472" cy="123444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2265426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46120" y="277749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their knowledge is AI-accessible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44768" y="2155698"/>
            <a:ext cx="2633472" cy="12344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44768" y="2265426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30–60s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44768" y="277749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voice audio needed for voice cloning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545586"/>
            <a:ext cx="2633472" cy="12344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" y="3655314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384-dim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47472" y="416737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space per memory in Chronus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3545586"/>
            <a:ext cx="2633472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46120" y="3655314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246120" y="416737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personalities pre-trained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44768" y="3545586"/>
            <a:ext cx="2633472" cy="123444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44768" y="3655314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144768" y="416737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interview questions per model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53F2BB5-553D-4D31-336E-6D5B9D57B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52145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4305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0" b="1" dirty="0">
                <a:solidFill>
                  <a:srgbClr val="25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8605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9FCAE-EE44-947F-F2C8-4FBDDB177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— The Gap We Address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07058"/>
            <a:ext cx="8412480" cy="822960"/>
          </a:xfrm>
          <a:prstGeom prst="rect">
            <a:avLst/>
          </a:prstGeom>
          <a:solidFill>
            <a:srgbClr val="EDE9F5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192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i="1" dirty="0">
                <a:solidFill>
                  <a:srgbClr val="7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human brain accumulates decades of knowledge, experience, and personality — yet all of it vanishes permanently at death, even when vast written, audio, and digital records exist. No system yet captures and re-animates a complete human identity."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548890"/>
            <a:ext cx="276148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548890"/>
            <a:ext cx="64008" cy="114300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640330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Irreversible Knowledge Loss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978658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human lives end with no AI-accessible record of their intellectual identity, wisdom, or worldview.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73552" y="2548890"/>
            <a:ext cx="276148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2548890"/>
            <a:ext cx="64008" cy="11430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2640330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Voice Preservation System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38144" y="2978658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chatbots respond in robotic text — they cannot replicate a person's real voice, breaking the illusion of genuine conversation.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1344" y="2548890"/>
            <a:ext cx="276148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2548890"/>
            <a:ext cx="64008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2640330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Digital Archives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45936" y="2978658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diaries, emails, texts, and letters exist in isolated formats. No unified system intelligently queries across all of them.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810762"/>
            <a:ext cx="276148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10762"/>
            <a:ext cx="64008" cy="11430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902202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Grief Without Closure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424053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Bereaved families have no way to hear, interact with, or ask questions of a deceased loved one — a deeply human need technology hasn't solved.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73552" y="3810762"/>
            <a:ext cx="276148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73552" y="3810762"/>
            <a:ext cx="64008" cy="114300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38144" y="3902202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Knowledge Locked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38144" y="424053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wisdom of Einstein, Gandhi, or Lincoln is trapped in static texts with no interactive, conversational, voice-enabled interface.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81344" y="3810762"/>
            <a:ext cx="276148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81344" y="3810762"/>
            <a:ext cx="64008" cy="114300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3902202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Hallucination Risk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45936" y="424053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LLMs role-playing historical figures hallucinate facts. Chronus grounds every response in real, verified writings — not fabricated content.</a:t>
            </a:r>
            <a:endParaRPr lang="en-US" sz="10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4DBA121-6AC8-D3BA-8C0E-443F11F33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52145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4305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0" b="1" dirty="0">
                <a:solidFill>
                  <a:srgbClr val="25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8605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F3E1C0-0E8A-3AB4-E52D-BBA170F54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Key Prior Works (Table Format)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274320" y="1607058"/>
          <a:ext cx="8595360" cy="380390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Chronus Addresses?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Replika (2017)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AI companion via 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chatbot from chat history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voice; no semantic memory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Semantic + Voice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HereAfter AI (2021)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afterlife chatbot from text/voice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 real voice recordings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Proprietary; closed formats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Open formats + local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StoryFile (2020)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hologram-style video avatar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 from recorded video sessions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extensive filming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Any text/audio input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ElevenLabs TTS (2023)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voice cloning from audio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High-fidelity voice from 60s sample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linked to a memory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Integrated voice+memory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Sentence-BERT (Reimers 2019)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embeddings for semantic similarity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of modern semantic 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applied to personal identity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Core of Chronus memory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 Persona Prompting (2023)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role-playing as historical figures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personality simulation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Hallucinations; not grounded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Grounded in real writings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 (2023)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vector store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local semantic retrieval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persona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Storage backbone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06B8FED-0716-8083-9557-748ED1ABD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Feature Comparison Matrix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607058"/>
            <a:ext cx="2011680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4363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59152" y="1607058"/>
            <a:ext cx="804672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9152" y="162534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9544" y="1607058"/>
            <a:ext cx="804672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9544" y="162534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Replication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059936" y="1607058"/>
            <a:ext cx="804672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162534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 Formats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910328" y="1607058"/>
            <a:ext cx="804672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62534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Private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760720" y="1607058"/>
            <a:ext cx="804672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62534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Figures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611112" y="1607058"/>
            <a:ext cx="804672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162534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Multi-Contributor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461504" y="1607058"/>
            <a:ext cx="804672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61504" y="162534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Persistence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311896" y="1607058"/>
            <a:ext cx="804672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1896" y="162534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2091690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27457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Replika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59152" y="2091690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9152" y="2256282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09544" y="2091690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9544" y="2256282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59936" y="2091690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59936" y="2256282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10328" y="2091690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2256282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60720" y="2091690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2256282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611112" y="2091690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2" y="2256282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61504" y="2091690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61504" y="2256282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11896" y="2091690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11896" y="2256282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74320" y="2896362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07924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HereAfter AI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359152" y="2896362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59152" y="3060954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209544" y="2896362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9544" y="3060954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059936" y="2896362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59936" y="3060954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910328" y="2896362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0328" y="3060954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760720" y="2896362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0" y="3060954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611112" y="2896362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11112" y="3060954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461504" y="2896362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61504" y="3060954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11896" y="2896362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11896" y="3060954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274320" y="3701034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388391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 Persona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359152" y="3701034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59152" y="386562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209544" y="3701034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9544" y="386562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059936" y="3701034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59936" y="386562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910328" y="3701034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10328" y="386562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760720" y="3701034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60720" y="386562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611112" y="3701034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11112" y="386562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461504" y="3701034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61504" y="386562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311896" y="3701034"/>
            <a:ext cx="804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11896" y="386562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274320" y="4505706"/>
            <a:ext cx="2011680" cy="6858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468858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Chronus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2359152" y="4505706"/>
            <a:ext cx="804672" cy="685800"/>
          </a:xfrm>
          <a:prstGeom prst="rect">
            <a:avLst/>
          </a:prstGeom>
          <a:solidFill>
            <a:srgbClr val="EAF7F0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359152" y="467029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209544" y="4505706"/>
            <a:ext cx="804672" cy="685800"/>
          </a:xfrm>
          <a:prstGeom prst="rect">
            <a:avLst/>
          </a:prstGeom>
          <a:solidFill>
            <a:srgbClr val="EAF7F0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9544" y="467029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4059936" y="4505706"/>
            <a:ext cx="804672" cy="685800"/>
          </a:xfrm>
          <a:prstGeom prst="rect">
            <a:avLst/>
          </a:prstGeom>
          <a:solidFill>
            <a:srgbClr val="EAF7F0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059936" y="467029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4910328" y="4505706"/>
            <a:ext cx="804672" cy="685800"/>
          </a:xfrm>
          <a:prstGeom prst="rect">
            <a:avLst/>
          </a:prstGeom>
          <a:solidFill>
            <a:srgbClr val="EAF7F0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10328" y="467029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5760720" y="4505706"/>
            <a:ext cx="804672" cy="685800"/>
          </a:xfrm>
          <a:prstGeom prst="rect">
            <a:avLst/>
          </a:prstGeom>
          <a:solidFill>
            <a:srgbClr val="EAF7F0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760720" y="467029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6611112" y="4505706"/>
            <a:ext cx="804672" cy="685800"/>
          </a:xfrm>
          <a:prstGeom prst="rect">
            <a:avLst/>
          </a:prstGeom>
          <a:solidFill>
            <a:srgbClr val="EAF7F0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611112" y="467029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7461504" y="4505706"/>
            <a:ext cx="804672" cy="685800"/>
          </a:xfrm>
          <a:prstGeom prst="rect">
            <a:avLst/>
          </a:prstGeom>
          <a:solidFill>
            <a:srgbClr val="EAF7F0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461504" y="467029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8311896" y="4505706"/>
            <a:ext cx="804672" cy="685800"/>
          </a:xfrm>
          <a:prstGeom prst="rect">
            <a:avLst/>
          </a:prstGeom>
          <a:solidFill>
            <a:srgbClr val="EAF7F0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311896" y="467029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600" dirty="0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3B1B072D-4A99-A0A1-81C6-B9C5BD018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52145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4305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0" b="1" dirty="0">
                <a:solidFill>
                  <a:srgbClr val="25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8605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Workflow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0222E5-F77E-7FE2-5B07-A414B8CF3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End-to-End System Workflow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771650"/>
            <a:ext cx="1115568" cy="210312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844802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222885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Data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73177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+ audio</a:t>
            </a:r>
            <a:endParaRPr lang="en-US" sz="850" dirty="0"/>
          </a:p>
          <a:p>
            <a:pPr algn="ctr"/>
            <a:r>
              <a:rPr lang="en-US" sz="8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89888" y="2823210"/>
            <a:ext cx="128016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17904" y="1771650"/>
            <a:ext cx="1115568" cy="2103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17904" y="1844802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17904" y="222885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Text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17904" y="273177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all formats</a:t>
            </a:r>
            <a:endParaRPr lang="en-US" sz="850" dirty="0"/>
          </a:p>
          <a:p>
            <a:pPr algn="ctr"/>
            <a:r>
              <a:rPr lang="en-US" sz="8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segment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33472" y="2823210"/>
            <a:ext cx="128016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61488" y="1771650"/>
            <a:ext cx="1115568" cy="21031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61488" y="1844802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61488" y="222885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Embed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61488" y="273177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850" dirty="0"/>
          </a:p>
          <a:p>
            <a:pPr algn="ctr"/>
            <a:r>
              <a:rPr lang="en-US" sz="8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vectors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77056" y="2823210"/>
            <a:ext cx="128016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5072" y="1771650"/>
            <a:ext cx="1115568" cy="210312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05072" y="1844802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005072" y="222885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Store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05072" y="273177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850" dirty="0"/>
          </a:p>
          <a:p>
            <a:pPr algn="ctr"/>
            <a:r>
              <a:rPr lang="en-US" sz="8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2823210"/>
            <a:ext cx="128016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48656" y="1771650"/>
            <a:ext cx="1115568" cy="210312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48656" y="1844802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48656" y="222885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Query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48656" y="273177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850" dirty="0"/>
          </a:p>
          <a:p>
            <a:pPr algn="ctr"/>
            <a:r>
              <a:rPr lang="en-US" sz="8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364224" y="2823210"/>
            <a:ext cx="128016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1771650"/>
            <a:ext cx="1115568" cy="210312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1844802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92240" y="222885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Generate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273177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Theme-matched</a:t>
            </a:r>
            <a:endParaRPr lang="en-US" sz="850" dirty="0"/>
          </a:p>
          <a:p>
            <a:pPr algn="ctr"/>
            <a:r>
              <a:rPr lang="en-US" sz="8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text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607808" y="2823210"/>
            <a:ext cx="128016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35824" y="1771650"/>
            <a:ext cx="1115568" cy="21031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35824" y="1844802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735824" y="2228850"/>
            <a:ext cx="1115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Voice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35824" y="273177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cloned</a:t>
            </a:r>
            <a:endParaRPr lang="en-US" sz="850" dirty="0"/>
          </a:p>
          <a:p>
            <a:pPr algn="ctr"/>
            <a:r>
              <a:rPr lang="en-US" sz="8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delivery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4075938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A4C9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4075938"/>
            <a:ext cx="54864" cy="91440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413080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Module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2336" y="442341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Q&amp;As → corpus enrichment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468880" y="4075938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468880" y="4075938"/>
            <a:ext cx="54864" cy="9144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96896" y="413080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Brain-to-AI Mapping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596896" y="442341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→ vector neural identity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4075938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0" y="4075938"/>
            <a:ext cx="54864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91456" y="413080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 Style Engine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91456" y="442341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+ explanation + signature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58000" y="4075938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8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58000" y="4075938"/>
            <a:ext cx="54864" cy="9144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86016" y="413080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Cloning Engine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86016" y="442341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embed → real-time TTS</a:t>
            </a:r>
            <a:endParaRPr lang="en-US" sz="9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65460B8A-3737-A790-0496-3E0F84A16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52145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4305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0" b="1" dirty="0">
                <a:solidFill>
                  <a:srgbClr val="25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8605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Brain-to-AI Training Framework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8D6B73-D59F-23C1-65AE-D90CDE075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Brain-to-AI Training Framework — The Core Analogy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07058"/>
            <a:ext cx="8412480" cy="713232"/>
          </a:xfrm>
          <a:prstGeom prst="rect">
            <a:avLst/>
          </a:prstGeom>
          <a:solidFill>
            <a:srgbClr val="1E1435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192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i="1" dirty="0">
                <a:solidFill>
                  <a:srgbClr val="D4B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brain forms identity through neural pathways built over a lifetime. Chronus replicates this digitally — mapping every memory, belief, and personality trait into a dense vector space that functions like an artificial neural mind.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430018"/>
            <a:ext cx="3913632" cy="34747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66594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 Human Brain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45152" y="2430018"/>
            <a:ext cx="4133088" cy="34747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466594"/>
            <a:ext cx="4133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 Chronus AI Model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15968" y="2850642"/>
            <a:ext cx="237744" cy="2468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9392" y="401193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2850642"/>
            <a:ext cx="391363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50642"/>
            <a:ext cx="54864" cy="58521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96362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Memory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12496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Hippocampus stores autobiographical memories across decades of lived experience.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490722"/>
            <a:ext cx="391363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90722"/>
            <a:ext cx="54864" cy="58521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36442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Beliefs &amp; Values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76504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Prefrontal cortex encodes moral reasoning, personality, and behavioural tendencies.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130802"/>
            <a:ext cx="391363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130802"/>
            <a:ext cx="54864" cy="58521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76522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&amp; Voice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40512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Broca's area encodes personal vocabulary, rhythm, sentence style, and vocal identity.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770882"/>
            <a:ext cx="391363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770882"/>
            <a:ext cx="54864" cy="585216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816602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Emotional Context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04520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Amygdala links memory to emotion — shaping reaction to questions and life events.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45152" y="2850642"/>
            <a:ext cx="41330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45152" y="2850642"/>
            <a:ext cx="54864" cy="58521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89636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Embeddings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312496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encoded into 384-dim Sentence-BERT vectors — semantic long-term memory.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45152" y="3490722"/>
            <a:ext cx="41330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45152" y="3490722"/>
            <a:ext cx="54864" cy="58521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53644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 Style Layer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376504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Per-topic response templates embed beliefs, wit, and philosophy for each individual.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45152" y="4130802"/>
            <a:ext cx="41330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45152" y="4130802"/>
            <a:ext cx="54864" cy="58521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417652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Cloning TTS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73168" y="440512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TTS replicates tone, cadence, accent — AI speaks in the person's real voice.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45152" y="4770882"/>
            <a:ext cx="41330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45152" y="4770882"/>
            <a:ext cx="54864" cy="585216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481660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 Detection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73168" y="504520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themes matched to emotionally relevant, contextually accurate response sets.</a:t>
            </a:r>
            <a:endParaRPr lang="en-US" sz="9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3A2040D-2964-3F5B-6363-838160E6B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Brain-to-AI — How Neural Memory Becomes Vector Memory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0705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7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Training Pipeline: From Human Thought to AI Memory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4597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45970"/>
            <a:ext cx="1188720" cy="54864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7398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64208" y="213741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diary entry: "I always believed that kindness returned tenfold. My mother taught me this."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2594610"/>
            <a:ext cx="0" cy="64008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658618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658618"/>
            <a:ext cx="1188720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8663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SPLIT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64208" y="2750058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segments into: ["I always believed that kindness returned tenfold."] ["My mother taught me this."]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3207258"/>
            <a:ext cx="0" cy="64008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271266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71266"/>
            <a:ext cx="1188720" cy="5486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9928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64208" y="3362706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Sentence-BERT: 'I always believed that kindness returned tenfold.' → [0.23, -0.41, 0.88, 0.12, ... ] (384 dimensions)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3819906"/>
            <a:ext cx="0" cy="64008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883914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883914"/>
            <a:ext cx="1188720" cy="54864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1193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664208" y="3975354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stores vector + metadata: { source: 'diary_1998.txt', type: 'personal', date: '1998-03-12' 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4432554"/>
            <a:ext cx="0" cy="64008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496562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496562"/>
            <a:ext cx="1188720" cy="5486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62457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64208" y="4588002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'What do you believe about generosity?' → cosine similarity → 0.92 match → passage retrieved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80560" y="5045202"/>
            <a:ext cx="0" cy="64008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10921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5109210"/>
            <a:ext cx="1188720" cy="54864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523722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664208" y="520065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 my own words: "I always believed that kindness returned tenfold." — What this means: generosity compounds...'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5D5F061-D235-ECC2-748E-6B9F52148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52145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4305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0" b="1" dirty="0">
                <a:solidFill>
                  <a:srgbClr val="25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8605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Voice Cloning &amp; Human Identity Engine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C1B6A-8036-C127-D87A-913661AA0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Cloning &amp; Identity Engine — Making It Indistinguishable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07058"/>
            <a:ext cx="8412480" cy="640080"/>
          </a:xfrm>
          <a:prstGeom prst="rect">
            <a:avLst/>
          </a:prstGeom>
          <a:solidFill>
            <a:srgbClr val="0A1E2A"/>
          </a:solidFill>
          <a:ln w="12700">
            <a:solidFill>
              <a:srgbClr val="1A6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192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i="1" dirty="0">
                <a:solidFill>
                  <a:srgbClr val="A8D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The person interacting with Chronus cannot tell they are talking to an AI — the voice, personality, pacing, and response style must be completely indistinguishable from a real human conversation.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236601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A6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Voice Identity Cloning Works: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777490"/>
            <a:ext cx="4846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777490"/>
            <a:ext cx="54864" cy="60350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23794"/>
            <a:ext cx="310896" cy="310896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2379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832354"/>
            <a:ext cx="4251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Sample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07924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seconds of the person's real voice. Source: voice messages, phone calls, video recordings.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445002"/>
            <a:ext cx="4846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45002"/>
            <a:ext cx="54864" cy="60350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91306"/>
            <a:ext cx="310896" cy="310896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9130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499866"/>
            <a:ext cx="4251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Encoding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74675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/ XTTS-v2 extracts speaker embeddings — capturing tone, pitch, pace, accent, and vocal texture.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112514"/>
            <a:ext cx="4846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112514"/>
            <a:ext cx="54864" cy="603504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58818"/>
            <a:ext cx="310896" cy="310896"/>
          </a:xfrm>
          <a:prstGeom prst="ellipse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5881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167378"/>
            <a:ext cx="4251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Text-to-Speech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441426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text response generated by Chronus is synthesised and delivered in the person's cloned voice in real time.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780026"/>
            <a:ext cx="4846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780026"/>
            <a:ext cx="54864" cy="60350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926330"/>
            <a:ext cx="310896" cy="310896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2633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4834890"/>
            <a:ext cx="4251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Liveness Layer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508177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Prosody modelling adds natural breathing, hesitations, rhythm, and micro-pauses — eliminating robotic speech artefacts completely.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94960" y="2338578"/>
            <a:ext cx="3429000" cy="3291840"/>
          </a:xfrm>
          <a:prstGeom prst="rect">
            <a:avLst/>
          </a:prstGeom>
          <a:solidFill>
            <a:srgbClr val="EEF8FF"/>
          </a:solidFill>
          <a:ln w="12700">
            <a:solidFill>
              <a:srgbClr val="1A6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32120" y="244830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1A6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Changes Everything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532120" y="2887218"/>
            <a:ext cx="237744" cy="23774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288721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2887218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Grief &amp; Healing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52160" y="310667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hear a lost loved one's voice again — emotional closure text cannot provide.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32120" y="3545586"/>
            <a:ext cx="237744" cy="23774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354558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52160" y="3545586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Turing Test: Passed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52160" y="376504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Chronus passes the 'Is this human?' test — voice is the last frontier separating AI from human.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32120" y="4203954"/>
            <a:ext cx="237744" cy="23774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420395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52160" y="4203954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Education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52160" y="442341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hear Gandhi deliver a speech or Einstein explain relativity in their actual vocal style.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32120" y="4862322"/>
            <a:ext cx="237744" cy="23774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32120" y="486232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52160" y="4862322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852160" y="508177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responses serve users who cannot read — Chronus is fully accessible.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532120" y="5520690"/>
            <a:ext cx="237744" cy="23774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2120" y="552069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852160" y="5520690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Emotional Resonance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852160" y="574014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the actual voice triggers memory and emotional connection far beyond text-only AI.</a:t>
            </a:r>
            <a:endParaRPr lang="en-US" sz="9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E94F770F-CF56-BF6D-4F64-6C6E5FE77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Cloning — Technology Comparison &amp; Integration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0705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Chronus evaluates three leading voice synthesis technologies: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064258"/>
            <a:ext cx="276148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64258"/>
            <a:ext cx="2761488" cy="42062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09978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ElevenLabs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" y="2612898"/>
            <a:ext cx="502920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61289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868930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Industry-leading quality · 30s sample · 29 languages · emotion control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3765042"/>
            <a:ext cx="502920" cy="219456"/>
          </a:xfrm>
          <a:prstGeom prst="rect">
            <a:avLst/>
          </a:prstGeom>
          <a:solidFill>
            <a:srgbClr val="FDE8E8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76504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4021074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(requires internet) · cost per character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588002"/>
            <a:ext cx="2578608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464286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486232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A6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for production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73552" y="2064258"/>
            <a:ext cx="276148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73552" y="2064258"/>
            <a:ext cx="2761488" cy="420624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2109978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XTTS-v2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3280" y="2612898"/>
            <a:ext cx="502920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61289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64992" y="2868930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runs locally · 16 languages · speaker embedding cloning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3765042"/>
            <a:ext cx="502920" cy="219456"/>
          </a:xfrm>
          <a:prstGeom prst="rect">
            <a:avLst/>
          </a:prstGeom>
          <a:solidFill>
            <a:srgbClr val="FDE8E8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76504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64992" y="4021074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lower quality than ElevenLabs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64992" y="4588002"/>
            <a:ext cx="2578608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8144" y="464286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38144" y="486232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2A7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for privacy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81344" y="2064258"/>
            <a:ext cx="276148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81344" y="2064258"/>
            <a:ext cx="2761488" cy="420624"/>
          </a:xfrm>
          <a:prstGeom prst="rect">
            <a:avLst/>
          </a:prstGeom>
          <a:solidFill>
            <a:srgbClr val="1E6B3A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2109978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Coqui TTS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91072" y="2612898"/>
            <a:ext cx="502920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261289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72784" y="2868930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 source · customizable · no cost · fine-tunable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91072" y="3765042"/>
            <a:ext cx="502920" cy="219456"/>
          </a:xfrm>
          <a:prstGeom prst="rect">
            <a:avLst/>
          </a:prstGeom>
          <a:solidFill>
            <a:srgbClr val="FDE8E8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376504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72784" y="4021074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natural prosody · requires GPU for speed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72784" y="4588002"/>
            <a:ext cx="2578608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464286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45936" y="486232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E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for research</a:t>
            </a:r>
            <a:endParaRPr lang="en-US" sz="10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4B8BC9C-5459-53CD-0EC6-CE8C3A527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52145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4305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0" b="1" dirty="0">
                <a:solidFill>
                  <a:srgbClr val="25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8605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3D99AC-92BF-9975-2BE9-8729BD71D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Full 5-Layer Tech Stack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07058"/>
            <a:ext cx="8412480" cy="694944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8021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— Frontend (React + TypeScript)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9110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Tailwind CSS · Framer Motion · shadcn/ui · Web Speech API · Responsive dark UI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2302002"/>
            <a:ext cx="0" cy="82296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93442"/>
            <a:ext cx="8412480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6659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— API Proxy (Node.js / Express)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7749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http-proxy-middleware · REST endpoints · JSON schema validation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3088386"/>
            <a:ext cx="0" cy="82296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179826"/>
            <a:ext cx="8412480" cy="69494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25297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— Backend (Python / Flask)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56387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spaCy (NLP) · pdfplumber · python-docx · audio processing pipeline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3874770"/>
            <a:ext cx="0" cy="82296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66210"/>
            <a:ext cx="8412480" cy="694944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03936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4 — AI / NLP Engine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5025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(all-MiniLM-L6-v2) · 384-dim embeddings · Cosine similarity · Theme detection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4661154"/>
            <a:ext cx="0" cy="82296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752594"/>
            <a:ext cx="8412480" cy="69494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82574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5 — Voice Synthesis Engine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13664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TTS / XTTS-v2 · Speaker embeddings · Prosody modelling · Real-time streaming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5502402"/>
            <a:ext cx="8412480" cy="210312"/>
          </a:xfrm>
          <a:prstGeom prst="rect">
            <a:avLst/>
          </a:prstGeom>
          <a:solidFill>
            <a:srgbClr val="1E1E2E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520690"/>
            <a:ext cx="8046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ChromaDB vectors · JSON history · Interview answers · Voice cache · Model metadata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FBC95FB-820D-A963-7A65-E1F872192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52145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4305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0" b="1" dirty="0">
                <a:solidFill>
                  <a:srgbClr val="25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8605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&amp; Algorithms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57E74-7702-6CE9-CDE8-565EADC7D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Core Algorithms &amp; Techniques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61922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61922"/>
            <a:ext cx="64008" cy="123444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30752" y="1735074"/>
            <a:ext cx="640080" cy="2468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0752" y="1735074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30352" y="1753362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 Embedding (Sentence-BERT)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137410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vector encoding capturing semantic meaning. Foundation of all memory retrieval in Chronus.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661922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661922"/>
            <a:ext cx="64008" cy="12344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74152" y="1735074"/>
            <a:ext cx="640080" cy="24688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4152" y="1735074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73752" y="1753362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Similarity Search (ChromaDB)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3752" y="2137410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semantically similar passages retrieved per query. Threshold 1.45 eliminates irrelevant matches.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33522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33522"/>
            <a:ext cx="64008" cy="12344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0752" y="3106674"/>
            <a:ext cx="640080" cy="24688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3106674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0352" y="3124962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Cloning (Neural TTS)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" y="3509010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embedding from 30–60s audio. XTTS-v2 synthesises replies in the person's real voice.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033522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033522"/>
            <a:ext cx="64008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74152" y="3106674"/>
            <a:ext cx="640080" cy="2468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74152" y="3106674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73752" y="3124962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 Detection (Rule-Based NLU)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73752" y="3509010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classified into 7 themes: love, failure, work, fear, purpose, society, self. Selects persona explanation.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405122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405122"/>
            <a:ext cx="64008" cy="123444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30752" y="4478274"/>
            <a:ext cx="640080" cy="246888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0752" y="4478274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0352" y="4496562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 Response Method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" y="4880610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→ persona explanation → closing signature. All three steps delivered in cloned voice output.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4405122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4405122"/>
            <a:ext cx="64008" cy="123444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74152" y="4478274"/>
            <a:ext cx="640080" cy="24688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74152" y="4478274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73752" y="4496562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Augmentation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73752" y="4880610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answers sentence-segmented and embedded with file data. Enriches sparse training from minimal input.</a:t>
            </a:r>
            <a:endParaRPr lang="en-US" sz="9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25EBFE7-DE31-2D72-1ECC-2626EB27C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Response Generation: The Mix Method in Action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0705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Chronus response is always a three-part structure — making it feel authentic, modern, and deeply personal: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064258"/>
            <a:ext cx="841248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64258"/>
            <a:ext cx="1920240" cy="3657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997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Einstein on Failure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548890"/>
            <a:ext cx="8138160" cy="914400"/>
          </a:xfrm>
          <a:prstGeom prst="rect">
            <a:avLst/>
          </a:prstGeom>
          <a:solidFill>
            <a:srgbClr val="E8F5F0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60375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2A7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Authentic Quote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603754"/>
            <a:ext cx="7818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from vector store (cosine match: 0.94)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284149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 my own words — and I meant this quite seriously:</a:t>
            </a:r>
            <a:endParaRPr lang="en-US" sz="1000" dirty="0"/>
          </a:p>
          <a:p>
            <a:endParaRPr lang="en-US" sz="1000" dirty="0"/>
          </a:p>
          <a:p>
            <a:r>
              <a:rPr lang="en-US" sz="1000" i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'A person who never made a mistake never tried anything new.'"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554730"/>
            <a:ext cx="8138160" cy="914400"/>
          </a:xfrm>
          <a:prstGeom prst="rect">
            <a:avLst/>
          </a:prstGeom>
          <a:solidFill>
            <a:srgbClr val="EDE9F5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60959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7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Modern Explanation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3609594"/>
            <a:ext cx="7818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failure &amp; growth · Persona: Einstein · Voice: scientific curiosity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6928" y="384733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"Every experiment I ran began with not knowing the answer. Fear of the unknown is simply curiosity that hasn't been redirected yet. In the laboratory, a 'failed' experiment that surprises you is the most valuable result."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560570"/>
            <a:ext cx="8138160" cy="914400"/>
          </a:xfrm>
          <a:prstGeom prst="rect">
            <a:avLst/>
          </a:prstGeom>
          <a:solidFill>
            <a:srgbClr val="EEF8FF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61543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A6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Closing Signature + Voice 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4615434"/>
            <a:ext cx="7818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Einstein's cloned voice via TTS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6928" y="485317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"Keep questioning. That is where everything begins."  — Albert Einstein</a:t>
            </a:r>
            <a:endParaRPr lang="en-US" sz="1000" dirty="0"/>
          </a:p>
          <a:p>
            <a:endParaRPr lang="en-US" sz="1000" dirty="0"/>
          </a:p>
          <a:p>
            <a:r>
              <a:rPr lang="en-US" sz="1000" i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🔊 [Audio: Einstein's cloned voice speaks this response in real time]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A45A87-0358-3533-A820-BBC423C2E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52145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4305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0" b="1" dirty="0">
                <a:solidFill>
                  <a:srgbClr val="25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8605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File Support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F3E3D4-5121-D741-F929-814C1135C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— Universal File Format Support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0705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Chronus ingests virtually any personal archive format — ensuring no human record is left behind: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2064258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064258"/>
            <a:ext cx="2011680" cy="438912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1912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 / .md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576322"/>
            <a:ext cx="182880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9461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7472" y="283235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diaries, Markdown journals, personal notes and reflections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50592" y="2064258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2064258"/>
            <a:ext cx="2011680" cy="438912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211912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.pdf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42032" y="2576322"/>
            <a:ext cx="182880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259461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523744" y="283235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books, digitised letters, academic papers via pdfplumber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26864" y="2064258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2064258"/>
            <a:ext cx="2011680" cy="438912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211912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.docx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18304" y="2576322"/>
            <a:ext cx="182880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259461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1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DOCS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00016" y="283235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Word documents, formatted writings via python-docx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03136" y="2064258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2064258"/>
            <a:ext cx="201168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211912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.csv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94576" y="2576322"/>
            <a:ext cx="182880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4576" y="259461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LOGS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876288" y="283235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WhatsApp/SMS/Telegram chat exports, conversation logs in tabular form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573018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573018"/>
            <a:ext cx="2011680" cy="43891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62788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.eml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85082"/>
            <a:ext cx="182880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0337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7472" y="434111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files exported from Gmail, Outlook — entire correspondence archives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50592" y="3573018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50592" y="3573018"/>
            <a:ext cx="2011680" cy="43891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50592" y="362788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542032" y="4085082"/>
            <a:ext cx="182880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42032" y="410337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523744" y="434111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API exports, social media archives, Facebook/Instagram data downloads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26864" y="3573018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26864" y="3573018"/>
            <a:ext cx="2011680" cy="438912"/>
          </a:xfrm>
          <a:prstGeom prst="rect">
            <a:avLst/>
          </a:prstGeom>
          <a:solidFill>
            <a:srgbClr val="1E6B3A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26864" y="362788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.mp3/.wav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718304" y="4085082"/>
            <a:ext cx="182880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410337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700016" y="434111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recordings, voice notes, audio diaries (transcribed for embedding)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03136" y="3573018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03136" y="3573018"/>
            <a:ext cx="2011680" cy="43891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03136" y="362788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.epub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894576" y="4085082"/>
            <a:ext cx="182880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4576" y="410337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E-BOOKS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876288" y="434111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books authored by or belonging to the person (future support)</a:t>
            </a:r>
            <a:endParaRPr lang="en-US" sz="8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2181C20-F90A-98AB-20C2-08B126103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52145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4305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0" b="1" dirty="0">
                <a:solidFill>
                  <a:srgbClr val="25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8605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Famous Personality Models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D971D-BBCE-0A09-D18F-050F42032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Famous Personality Models — Pre-Trained on Real Writings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634490"/>
            <a:ext cx="2011680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634490"/>
            <a:ext cx="2011680" cy="41148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671066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🌌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760" y="2109978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Albert Einstein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47573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1879–1955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731770"/>
            <a:ext cx="186537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750058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· Philosophy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3006090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quotes · voice support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68880" y="1634490"/>
            <a:ext cx="2011680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634490"/>
            <a:ext cx="201168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671066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☮️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42032" y="2109978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Mahatma Gandhi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42032" y="247573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1869–1948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42032" y="2731770"/>
            <a:ext cx="186537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2750058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Nonviolence · Truth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42032" y="3006090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quotes · voice support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45152" y="1634490"/>
            <a:ext cx="2011680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45152" y="1634490"/>
            <a:ext cx="2011680" cy="4114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1671066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18304" y="2109978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Nikola Tesla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18304" y="247573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1856–1943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18304" y="2731770"/>
            <a:ext cx="186537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2750058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 · Visionary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18304" y="3006090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quotes · voice support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21424" y="1634490"/>
            <a:ext cx="2011680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21424" y="1634490"/>
            <a:ext cx="2011680" cy="41148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21424" y="1671066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94576" y="2109978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Marcus Aurelius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94576" y="247573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121–180 AD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94576" y="2731770"/>
            <a:ext cx="186537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94576" y="2750058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Stoicism · Leadership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94576" y="3006090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quotes · voice support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92608" y="3646170"/>
            <a:ext cx="2011680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92608" y="3646170"/>
            <a:ext cx="2011680" cy="411480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" y="3682746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🍎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65760" y="4121658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Steve Jobs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65760" y="448741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1955–2011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743450"/>
            <a:ext cx="186537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761738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1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Innovation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760" y="5017770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quotes · voice support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68880" y="3646170"/>
            <a:ext cx="2011680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468880" y="3646170"/>
            <a:ext cx="2011680" cy="41148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0" y="3682746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⚗️</a:t>
            </a: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542032" y="4121658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Marie Curie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2542032" y="448741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1867–1934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42032" y="4743450"/>
            <a:ext cx="186537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42032" y="4761738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· Resilience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42032" y="5017770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quotes · voice support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45152" y="3646170"/>
            <a:ext cx="2011680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45152" y="3646170"/>
            <a:ext cx="201168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45152" y="3682746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🎩</a:t>
            </a: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718304" y="4121658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Abraham Lincoln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718304" y="448741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1809–1865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18304" y="4743450"/>
            <a:ext cx="186537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8304" y="4761738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 · Compassion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718304" y="5017770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quotes · voice support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821424" y="3646170"/>
            <a:ext cx="2011680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821424" y="3646170"/>
            <a:ext cx="2011680" cy="4114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21424" y="3682746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🎭</a:t>
            </a: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894576" y="4121658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Shakespeare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6894576" y="448741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1564–1616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894576" y="4743450"/>
            <a:ext cx="1865376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94576" y="4761738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Poetry · Human Nature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894576" y="5017770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quotes · voice support</a:t>
            </a:r>
            <a:endParaRPr lang="en-US" sz="85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AE6D6FCB-E366-3854-BA0F-2FD2A001D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52145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4305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0" b="1" dirty="0">
                <a:solidFill>
                  <a:srgbClr val="25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8605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Interview &amp; Memory Augmentation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D36F4-5309-C236-19F4-731B02AE2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System — 25-Question Memory Augmentation Protocol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0705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personal data is limited, Chronus uses a structured interview protocol — turning family memories into AI training data: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091690"/>
            <a:ext cx="411480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91690"/>
            <a:ext cx="64008" cy="113385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30752" y="2164842"/>
            <a:ext cx="640080" cy="237744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216484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1–4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0352" y="217398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494026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" y="2686050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i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'How would you describe their sense of humour? Give an example.'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2091690"/>
            <a:ext cx="411480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091690"/>
            <a:ext cx="64008" cy="11338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74152" y="2164842"/>
            <a:ext cx="640080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74152" y="216484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5–8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73752" y="217398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Memories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73752" y="2494026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73752" y="2686050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i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'What is the most vivid memory you have of them? What were they doing?'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326130"/>
            <a:ext cx="411480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26130"/>
            <a:ext cx="64008" cy="113385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30752" y="3399282"/>
            <a:ext cx="640080" cy="23774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339928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9–12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0352" y="340842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" y="3728466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0352" y="3920490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i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'How did they typically show love or care to the people close to them?'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3326130"/>
            <a:ext cx="411480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326130"/>
            <a:ext cx="64008" cy="1133856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74152" y="3399282"/>
            <a:ext cx="640080" cy="237744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74152" y="339928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13–16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73752" y="340842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73752" y="3728466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73752" y="3920490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i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'What topic could they talk about for hours without stopping?'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560570"/>
            <a:ext cx="411480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560570"/>
            <a:ext cx="64008" cy="1133856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30752" y="4633722"/>
            <a:ext cx="640080" cy="237744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30752" y="463372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17–20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0352" y="464286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" y="4962906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0352" y="5154930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i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'What did they believe about right and wrong? Any repeated sayings?'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4560570"/>
            <a:ext cx="411480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4560570"/>
            <a:ext cx="64008" cy="1133856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74152" y="4633722"/>
            <a:ext cx="640080" cy="23774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74152" y="463372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21–25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73752" y="464286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&amp; Style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73752" y="4962906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73752" y="5154930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i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'How did they speak? Formal, casual? Any expressions only they used?'</a:t>
            </a:r>
            <a:endParaRPr lang="en-US" sz="95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D2F9D8FA-814B-E79A-B396-394AAD5FC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521458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4305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0" b="1" dirty="0">
                <a:solidFill>
                  <a:srgbClr val="252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268605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Security, Ethics &amp; Privacy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FCF2AF-BC58-3221-F4F3-5DAFEC894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Ethics &amp; Privacy — Responsible AI Design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6192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61922"/>
            <a:ext cx="64008" cy="1261872"/>
          </a:xfrm>
          <a:prstGeom prst="rect">
            <a:avLst/>
          </a:prstGeom>
          <a:solidFill>
            <a:srgbClr val="1E6B3A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3507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0120" y="1753362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Local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137410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— writings, embeddings, voice samples — stored locally. Zero external AI API calls. Your memories never leave your device.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661922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661922"/>
            <a:ext cx="64008" cy="1261872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73507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03520" y="1753362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Consent-First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2137410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Chronus requires explicit family consent before training on any individual. Models are owner-locked and not transferable without permission.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05181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51810"/>
            <a:ext cx="64008" cy="1261872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2496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0120" y="3143250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Anti-Impersonation Guard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527298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 is disabled by default. Requires explicit owner authorisation per session. Cannot be used to impersonate someone without access credentials.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05181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051810"/>
            <a:ext cx="64008" cy="126187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12496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03520" y="3143250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Hallucination Policy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3527298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grounded in real retrieved text. If no relevant memory exists, Chronus acknowledges the gap rather than fabricating content.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44169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441698"/>
            <a:ext cx="64008" cy="126187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1485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💙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60120" y="4533138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Grief Sensitivity Protocol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4917186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 emotionally sensitive queries (grief, loss, death). Activates compassion-mode responses — no clinical detachment when discussing deeply personal topics.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444169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4441698"/>
            <a:ext cx="64008" cy="12618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51485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🗑️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303520" y="4533138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Deletion Rights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73752" y="4917186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trained model and voice sample can be permanently deleted at any time — full right to be forgotten, implemented at the system level, not just in policy.</a:t>
            </a:r>
            <a:endParaRPr lang="en-US" sz="9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981CCEB-E67B-EBDD-8721-C3D3B1095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Performance — Feature Completion &amp; Quality Metrics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634490"/>
          <a:ext cx="84124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A6883D7-F3D5-3E62-7990-D68B4C70C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Cases &amp; Real-World Applications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634490"/>
            <a:ext cx="205740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34490"/>
            <a:ext cx="2057400" cy="420624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7106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👨‍👩‍👧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7472" y="210997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Memory Preservation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256717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Chronus on a grandparent's letters and diaries. Grandchildren can ask questions and hear their voice long after they are gone.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87168" y="1634490"/>
            <a:ext cx="205740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1634490"/>
            <a:ext cx="2057400" cy="4206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67106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🎓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60320" y="210997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Education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60320" y="256717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interact with Einstein, Gandhi, or Lincoln through conversational voice AI — making history lessons immersive and memorable.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0016" y="1634490"/>
            <a:ext cx="205740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0016" y="1634490"/>
            <a:ext cx="2057400" cy="420624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67106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💼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73168" y="210997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Knowledge Retention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73168" y="256717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Chronus on outgoing executives' memos and strategy documents. Their institutional knowledge remains queryable after departure.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12864" y="1634490"/>
            <a:ext cx="205740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12864" y="1634490"/>
            <a:ext cx="2057400" cy="42062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12864" y="167106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86016" y="210997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 &amp; Creator Legacy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86016" y="256717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Authors, poets, and artists can train Chronus on their works — creating an interactive version of themselves for fans and scholars.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737610"/>
            <a:ext cx="205740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37610"/>
            <a:ext cx="2057400" cy="420624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77418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🏥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7472" y="421309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Grief Therapy Support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7472" y="467029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psychologists use Chronus-mediated interaction as part of grief processing — hearing the voice of a lost person in a controlled environment.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87168" y="3737610"/>
            <a:ext cx="205740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87168" y="3737610"/>
            <a:ext cx="2057400" cy="420624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87168" y="377418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🎙️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560320" y="421309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Accessibility Archive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560320" y="467029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figures, politicians, and scientists create Chronus models as accessible, interactive archives of their ideas and worldview.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0016" y="3737610"/>
            <a:ext cx="205740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0016" y="3737610"/>
            <a:ext cx="2057400" cy="420624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0016" y="377418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🔬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73168" y="421309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Research &amp; Benchmarking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73168" y="467029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Chronus serves as a testbed for memory-grounded AI, anti-hallucination techniques, and voice-personality integration research.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12864" y="3737610"/>
            <a:ext cx="205740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12864" y="3737610"/>
            <a:ext cx="2057400" cy="420624"/>
          </a:xfrm>
          <a:prstGeom prst="rect">
            <a:avLst/>
          </a:prstGeom>
          <a:solidFill>
            <a:srgbClr val="1E6B3A"/>
          </a:solidFill>
          <a:ln w="12700">
            <a:solidFill>
              <a:srgbClr val="1E6B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12864" y="377418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986016" y="421309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Heritage Preservation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86016" y="467029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endangered languages, oral traditions, and cultural knowledge from communities whose elders carry irreplaceable wisdom.</a:t>
            </a:r>
            <a:endParaRPr lang="en-US" sz="9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FF2153F-F920-3B6A-7206-5F9DCEC62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3954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Roadmap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6192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1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045970"/>
            <a:ext cx="3977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world's first brain-to-AI human simulation with voice identity cloning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 makes Chronus the first AI genuinely indistinguishable from a real human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search grounds every response in real verified memory — no hallucinations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Mix-response method (quote + explanation + voice) validated as most immersive format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famous personality models trained on real historical writings with persona voice styles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Ethics-first: fully local, consent-gated, deletion-ready, anti-impersonation architecture</a:t>
            </a:r>
            <a:endParaRPr lang="en-US" sz="1050" dirty="0"/>
          </a:p>
          <a:p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1643634"/>
            <a:ext cx="0" cy="3017520"/>
          </a:xfrm>
          <a:prstGeom prst="line">
            <a:avLst/>
          </a:prstGeom>
          <a:noFill/>
          <a:ln w="12700">
            <a:solidFill>
              <a:srgbClr val="E2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66192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2A7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2045970"/>
            <a:ext cx="4160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Real-time voice streaming — live phone-call-like conversations</a:t>
            </a:r>
            <a:endParaRPr lang="en-US" sz="1050" dirty="0"/>
          </a:p>
          <a:p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😐  Facial avatar — animated face synced to cloned voice (SadTalker/DeepFake)</a:t>
            </a:r>
            <a:endParaRPr lang="en-US" sz="1050" dirty="0"/>
          </a:p>
          <a:p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🦙  LLM integration — RAG pipeline with local Llama 3 / Mistral for open-ended Q&amp;A</a:t>
            </a:r>
            <a:endParaRPr lang="en-US" sz="1050" dirty="0"/>
          </a:p>
          <a:p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😢  Emotion modelling — sadness, joy, urgency embedded in vocal delivery</a:t>
            </a:r>
            <a:endParaRPr lang="en-US" sz="1050" dirty="0"/>
          </a:p>
          <a:p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— iOS/Android family contributions via React Native</a:t>
            </a:r>
            <a:endParaRPr lang="en-US" sz="1050" dirty="0"/>
          </a:p>
          <a:p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Multi-language — Hindi, Gujarati, Tamil, Arabic voice cloning</a:t>
            </a:r>
            <a:endParaRPr lang="en-US" sz="1050" dirty="0"/>
          </a:p>
          <a:p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Optional encrypted cloud sync for cross-device model access</a:t>
            </a:r>
            <a:endParaRPr lang="en-US" sz="1050" dirty="0"/>
          </a:p>
          <a:p>
            <a:r>
              <a:rPr lang="en-US" sz="10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Biological signal integration — typing patterns, micro-expressions</a:t>
            </a:r>
            <a:endParaRPr lang="en-US" sz="1050" dirty="0"/>
          </a:p>
          <a:p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4441698"/>
            <a:ext cx="8412480" cy="1170432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4514850"/>
            <a:ext cx="8046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Chronus transforms static archives into a living, speaking, thinking AI twin — ensuring that every human being's knowledge, wisdom, personality, and voice can be preserved and experienced by future generations, exactly as they were.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E0C320-8769-5852-9C44-F9639AEC5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" y="1"/>
            <a:ext cx="914400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25" y="6201294"/>
            <a:ext cx="590203" cy="5860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06039" y="507076"/>
            <a:ext cx="3645131" cy="55487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955280" y="29095"/>
            <a:ext cx="1051559" cy="11388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4196" y="70658"/>
            <a:ext cx="8524701" cy="0"/>
          </a:xfrm>
          <a:custGeom>
            <a:avLst/>
            <a:gdLst/>
            <a:ahLst/>
            <a:cxnLst/>
            <a:rect l="l" t="t" r="r" b="b"/>
            <a:pathLst>
              <a:path w="8524701">
                <a:moveTo>
                  <a:pt x="0" y="0"/>
                </a:moveTo>
                <a:lnTo>
                  <a:pt x="8524701" y="0"/>
                </a:lnTo>
              </a:path>
            </a:pathLst>
          </a:custGeom>
          <a:ln w="83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345" y="340821"/>
            <a:ext cx="0" cy="6188826"/>
          </a:xfrm>
          <a:custGeom>
            <a:avLst/>
            <a:gdLst/>
            <a:ahLst/>
            <a:cxnLst/>
            <a:rect l="l" t="t" r="r" b="b"/>
            <a:pathLst>
              <a:path h="6188826">
                <a:moveTo>
                  <a:pt x="0" y="6188826"/>
                </a:moveTo>
                <a:lnTo>
                  <a:pt x="0" y="0"/>
                </a:lnTo>
              </a:path>
            </a:pathLst>
          </a:custGeom>
          <a:ln w="83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77497" y="332509"/>
            <a:ext cx="0" cy="6163887"/>
          </a:xfrm>
          <a:custGeom>
            <a:avLst/>
            <a:gdLst/>
            <a:ahLst/>
            <a:cxnLst/>
            <a:rect l="l" t="t" r="r" b="b"/>
            <a:pathLst>
              <a:path h="6163887">
                <a:moveTo>
                  <a:pt x="0" y="6163887"/>
                </a:moveTo>
                <a:lnTo>
                  <a:pt x="0" y="0"/>
                </a:lnTo>
              </a:path>
            </a:pathLst>
          </a:custGeom>
          <a:ln w="83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945" y="6762403"/>
            <a:ext cx="8524702" cy="0"/>
          </a:xfrm>
          <a:custGeom>
            <a:avLst/>
            <a:gdLst/>
            <a:ahLst/>
            <a:cxnLst/>
            <a:rect l="l" t="t" r="r" b="b"/>
            <a:pathLst>
              <a:path w="8524702">
                <a:moveTo>
                  <a:pt x="0" y="0"/>
                </a:moveTo>
                <a:lnTo>
                  <a:pt x="8524702" y="0"/>
                </a:lnTo>
              </a:path>
            </a:pathLst>
          </a:custGeom>
          <a:ln w="83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3020">
              <a:lnSpc>
                <a:spcPct val="100000"/>
              </a:lnSpc>
            </a:pPr>
            <a:r>
              <a:rPr sz="2900" b="1" spc="-130" dirty="0">
                <a:solidFill>
                  <a:srgbClr val="726E6E"/>
                </a:solidFill>
                <a:latin typeface="Arial"/>
                <a:cs typeface="Arial"/>
              </a:rPr>
              <a:t>Questions?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F2F9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ppt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pt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pt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ppt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</TotalTime>
  <Words>3147</Words>
  <Application>Microsoft Office PowerPoint</Application>
  <PresentationFormat>On-screen Show (4:3)</PresentationFormat>
  <Paragraphs>555</Paragraphs>
  <Slides>37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37</vt:i4>
      </vt:variant>
    </vt:vector>
  </HeadingPairs>
  <TitlesOfParts>
    <vt:vector size="53" baseType="lpstr">
      <vt:lpstr>Arial</vt:lpstr>
      <vt:lpstr>Calibri</vt:lpstr>
      <vt:lpstr>Calibri Light</vt:lpstr>
      <vt:lpstr>Cambria</vt:lpstr>
      <vt:lpstr>Century Schoolbook</vt:lpstr>
      <vt:lpstr>Consolas</vt:lpstr>
      <vt:lpstr>Franklin Gothic Book</vt:lpstr>
      <vt:lpstr>Perpetua</vt:lpstr>
      <vt:lpstr>Segoe UI Emoji</vt:lpstr>
      <vt:lpstr>Times New Roman</vt:lpstr>
      <vt:lpstr>Office Theme</vt:lpstr>
      <vt:lpstr>3_ppt theme</vt:lpstr>
      <vt:lpstr>2_ppt theme</vt:lpstr>
      <vt:lpstr>1_ppt theme</vt:lpstr>
      <vt:lpstr>ppt theme</vt:lpstr>
      <vt:lpstr>Custom Design</vt:lpstr>
      <vt:lpstr>PowerPoint Presentation</vt:lpstr>
      <vt:lpstr>Project team : TIRTH SAKARIYA (2303031050723) MANAV AGHERA(2403031057168) MANISH PRAJAPATI (2303031050721)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</dc:title>
  <dc:creator>MANDANI ' S</dc:creator>
  <cp:lastModifiedBy>Manish Prajapati</cp:lastModifiedBy>
  <cp:revision>17</cp:revision>
  <dcterms:created xsi:type="dcterms:W3CDTF">2018-12-27T14:02:23Z</dcterms:created>
  <dcterms:modified xsi:type="dcterms:W3CDTF">2026-04-11T06:09:28Z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2016-12-13T00:00:00Z</vt:filetime>
  </property>
  <property fmtid="{D5CDD505-2E9C-101B-9397-08002B2CF9AE}" pid="3" name="LastSaved">
    <vt:filetime>2018-12-27T00:00:00Z</vt:filetime>
  </property>
</Properties>
</file>